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1" r:id="rId2"/>
    <p:sldId id="684" r:id="rId3"/>
    <p:sldId id="691" r:id="rId4"/>
    <p:sldId id="704" r:id="rId5"/>
    <p:sldId id="260" r:id="rId6"/>
    <p:sldId id="685" r:id="rId7"/>
    <p:sldId id="717" r:id="rId8"/>
    <p:sldId id="718" r:id="rId9"/>
    <p:sldId id="687" r:id="rId10"/>
    <p:sldId id="719" r:id="rId11"/>
    <p:sldId id="707" r:id="rId12"/>
    <p:sldId id="716" r:id="rId13"/>
    <p:sldId id="715" r:id="rId14"/>
    <p:sldId id="720" r:id="rId15"/>
    <p:sldId id="663" r:id="rId16"/>
    <p:sldId id="705" r:id="rId17"/>
    <p:sldId id="706" r:id="rId18"/>
    <p:sldId id="669" r:id="rId19"/>
    <p:sldId id="633" r:id="rId20"/>
    <p:sldId id="681" r:id="rId21"/>
    <p:sldId id="71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2136"/>
    <a:srgbClr val="1A9850"/>
    <a:srgbClr val="8C510A"/>
    <a:srgbClr val="01665E"/>
    <a:srgbClr val="D73027"/>
    <a:srgbClr val="41B6C4"/>
    <a:srgbClr val="2C7FB8"/>
    <a:srgbClr val="FFFFCC"/>
    <a:srgbClr val="253494"/>
    <a:srgbClr val="7FC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69" autoAdjust="0"/>
  </p:normalViewPr>
  <p:slideViewPr>
    <p:cSldViewPr snapToGrid="0">
      <p:cViewPr varScale="1">
        <p:scale>
          <a:sx n="142" d="100"/>
          <a:sy n="142" d="100"/>
        </p:scale>
        <p:origin x="98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vis Felipe Elli" userId="28671858541_tp_box_2" providerId="OAuth2" clId="{D9306D32-8BD8-4A71-994B-C7F175BEA089}"/>
    <pc:docChg chg="undo redo custSel addSld delSld modSld sldOrd">
      <pc:chgData name="Elvis Felipe Elli" userId="28671858541_tp_box_2" providerId="OAuth2" clId="{D9306D32-8BD8-4A71-994B-C7F175BEA089}" dt="2026-05-19T21:04:50.703" v="2661" actId="1076"/>
      <pc:docMkLst>
        <pc:docMk/>
      </pc:docMkLst>
      <pc:sldChg chg="addSp delSp modSp add mod">
        <pc:chgData name="Elvis Felipe Elli" userId="28671858541_tp_box_2" providerId="OAuth2" clId="{D9306D32-8BD8-4A71-994B-C7F175BEA089}" dt="2026-05-19T21:04:50.703" v="2661" actId="1076"/>
        <pc:sldMkLst>
          <pc:docMk/>
          <pc:sldMk cId="2404648865" sldId="715"/>
        </pc:sldMkLst>
        <pc:picChg chg="add mod">
          <ac:chgData name="Elvis Felipe Elli" userId="28671858541_tp_box_2" providerId="OAuth2" clId="{D9306D32-8BD8-4A71-994B-C7F175BEA089}" dt="2026-05-19T21:04:50.703" v="2661" actId="1076"/>
          <ac:picMkLst>
            <pc:docMk/>
            <pc:sldMk cId="2404648865" sldId="715"/>
            <ac:picMk id="4" creationId="{4F1FD2EA-A1CA-2839-9A4E-2D64E1CB4F0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felli\Box\_Projects\Corteva%20-%20Breeding%20effects%20on%20corn%20hybrids\VPD%20figure\diario2024%20esalq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felli\Box\_Projects\Corteva%20-%20Breeding%20effects%20on%20corn%20hybrids\VPD%20figure\diario2024%20esalq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felli\Box\_Projects\Corteva%20-%20Breeding%20effects%20on%20corn%20hybrids\VPD%20figure\diario2024%20esalq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felli\Box\_Projects\Corteva%20-%20Breeding%20effects%20on%20corn%20hybrids\VPD%20figure\diario2024%20esalq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2"/>
          <c:order val="0"/>
          <c:tx>
            <c:strRef>
              <c:f>'concept (2)'!$I$1</c:f>
              <c:strCache>
                <c:ptCount val="1"/>
                <c:pt idx="0">
                  <c:v>VPD</c:v>
                </c:pt>
              </c:strCache>
            </c:strRef>
          </c:tx>
          <c:spPr>
            <a:ln w="31750" cap="rnd">
              <a:noFill/>
              <a:prstDash val="sysDash"/>
              <a:round/>
            </a:ln>
            <a:effectLst/>
          </c:spPr>
          <c:marker>
            <c:symbol val="none"/>
          </c:marker>
          <c:trendline>
            <c:spPr>
              <a:ln w="25400">
                <a:solidFill>
                  <a:srgbClr val="FF0000"/>
                </a:solidFill>
              </a:ln>
            </c:spPr>
            <c:trendlineType val="poly"/>
            <c:order val="2"/>
            <c:dispRSqr val="0"/>
            <c:dispEq val="0"/>
          </c:trendline>
          <c:xVal>
            <c:numRef>
              <c:f>'concept (2)'!$C$35:$C$97</c:f>
              <c:numCache>
                <c:formatCode>General</c:formatCode>
                <c:ptCount val="63"/>
                <c:pt idx="0">
                  <c:v>495</c:v>
                </c:pt>
                <c:pt idx="1">
                  <c:v>510</c:v>
                </c:pt>
                <c:pt idx="2">
                  <c:v>525</c:v>
                </c:pt>
                <c:pt idx="3">
                  <c:v>540</c:v>
                </c:pt>
                <c:pt idx="4">
                  <c:v>555</c:v>
                </c:pt>
                <c:pt idx="5">
                  <c:v>570</c:v>
                </c:pt>
                <c:pt idx="6">
                  <c:v>585</c:v>
                </c:pt>
                <c:pt idx="7">
                  <c:v>600</c:v>
                </c:pt>
                <c:pt idx="8">
                  <c:v>615</c:v>
                </c:pt>
                <c:pt idx="9">
                  <c:v>630</c:v>
                </c:pt>
                <c:pt idx="10">
                  <c:v>645</c:v>
                </c:pt>
                <c:pt idx="11">
                  <c:v>660</c:v>
                </c:pt>
                <c:pt idx="12">
                  <c:v>675</c:v>
                </c:pt>
                <c:pt idx="13">
                  <c:v>690</c:v>
                </c:pt>
                <c:pt idx="14">
                  <c:v>705</c:v>
                </c:pt>
                <c:pt idx="15">
                  <c:v>720</c:v>
                </c:pt>
                <c:pt idx="16">
                  <c:v>735</c:v>
                </c:pt>
                <c:pt idx="17">
                  <c:v>750</c:v>
                </c:pt>
                <c:pt idx="18">
                  <c:v>765</c:v>
                </c:pt>
                <c:pt idx="19">
                  <c:v>780</c:v>
                </c:pt>
                <c:pt idx="20">
                  <c:v>795</c:v>
                </c:pt>
                <c:pt idx="21">
                  <c:v>810</c:v>
                </c:pt>
                <c:pt idx="22">
                  <c:v>825</c:v>
                </c:pt>
                <c:pt idx="23">
                  <c:v>840</c:v>
                </c:pt>
                <c:pt idx="24">
                  <c:v>855</c:v>
                </c:pt>
                <c:pt idx="25">
                  <c:v>870</c:v>
                </c:pt>
                <c:pt idx="26">
                  <c:v>885</c:v>
                </c:pt>
                <c:pt idx="27">
                  <c:v>900</c:v>
                </c:pt>
                <c:pt idx="28">
                  <c:v>915</c:v>
                </c:pt>
                <c:pt idx="29">
                  <c:v>930</c:v>
                </c:pt>
                <c:pt idx="30">
                  <c:v>945</c:v>
                </c:pt>
                <c:pt idx="31">
                  <c:v>960</c:v>
                </c:pt>
                <c:pt idx="32">
                  <c:v>975</c:v>
                </c:pt>
                <c:pt idx="33">
                  <c:v>990</c:v>
                </c:pt>
                <c:pt idx="34">
                  <c:v>1005</c:v>
                </c:pt>
                <c:pt idx="35">
                  <c:v>1020</c:v>
                </c:pt>
                <c:pt idx="36">
                  <c:v>1035</c:v>
                </c:pt>
                <c:pt idx="37">
                  <c:v>1050</c:v>
                </c:pt>
                <c:pt idx="38">
                  <c:v>1065</c:v>
                </c:pt>
                <c:pt idx="39">
                  <c:v>1080</c:v>
                </c:pt>
                <c:pt idx="40">
                  <c:v>1095</c:v>
                </c:pt>
                <c:pt idx="41">
                  <c:v>1110</c:v>
                </c:pt>
                <c:pt idx="42">
                  <c:v>1125</c:v>
                </c:pt>
                <c:pt idx="43">
                  <c:v>1140</c:v>
                </c:pt>
                <c:pt idx="44">
                  <c:v>1155</c:v>
                </c:pt>
                <c:pt idx="45">
                  <c:v>1170</c:v>
                </c:pt>
                <c:pt idx="46">
                  <c:v>1185</c:v>
                </c:pt>
                <c:pt idx="47">
                  <c:v>1200</c:v>
                </c:pt>
                <c:pt idx="48">
                  <c:v>1215</c:v>
                </c:pt>
                <c:pt idx="49">
                  <c:v>1230</c:v>
                </c:pt>
                <c:pt idx="50">
                  <c:v>1245</c:v>
                </c:pt>
                <c:pt idx="51">
                  <c:v>1260</c:v>
                </c:pt>
                <c:pt idx="52">
                  <c:v>1275</c:v>
                </c:pt>
                <c:pt idx="53">
                  <c:v>1290</c:v>
                </c:pt>
                <c:pt idx="54">
                  <c:v>1305</c:v>
                </c:pt>
                <c:pt idx="55">
                  <c:v>1320</c:v>
                </c:pt>
                <c:pt idx="56">
                  <c:v>1335</c:v>
                </c:pt>
                <c:pt idx="57">
                  <c:v>1350</c:v>
                </c:pt>
                <c:pt idx="58">
                  <c:v>1365</c:v>
                </c:pt>
                <c:pt idx="59">
                  <c:v>1380</c:v>
                </c:pt>
                <c:pt idx="60">
                  <c:v>1395</c:v>
                </c:pt>
                <c:pt idx="61">
                  <c:v>1410</c:v>
                </c:pt>
                <c:pt idx="62">
                  <c:v>1425</c:v>
                </c:pt>
              </c:numCache>
            </c:numRef>
          </c:xVal>
          <c:yVal>
            <c:numRef>
              <c:f>'concept (2)'!$L$35:$L$97</c:f>
              <c:numCache>
                <c:formatCode>General</c:formatCode>
                <c:ptCount val="63"/>
                <c:pt idx="0">
                  <c:v>0.3413971179343307</c:v>
                </c:pt>
                <c:pt idx="1">
                  <c:v>0.32953604067428871</c:v>
                </c:pt>
                <c:pt idx="2">
                  <c:v>0.34066438238699187</c:v>
                </c:pt>
                <c:pt idx="3">
                  <c:v>0.45342190738754617</c:v>
                </c:pt>
                <c:pt idx="4">
                  <c:v>0.49690571834839148</c:v>
                </c:pt>
                <c:pt idx="5">
                  <c:v>0.47670822589395473</c:v>
                </c:pt>
                <c:pt idx="6">
                  <c:v>0.49114975700100233</c:v>
                </c:pt>
                <c:pt idx="7">
                  <c:v>0.49735379054265344</c:v>
                </c:pt>
                <c:pt idx="8">
                  <c:v>0.5815040047725194</c:v>
                </c:pt>
                <c:pt idx="9">
                  <c:v>0.60665931705909348</c:v>
                </c:pt>
                <c:pt idx="10">
                  <c:v>0.66530786948778353</c:v>
                </c:pt>
                <c:pt idx="11">
                  <c:v>0.69890412587698425</c:v>
                </c:pt>
                <c:pt idx="12">
                  <c:v>0.76068886932741342</c:v>
                </c:pt>
                <c:pt idx="13">
                  <c:v>0.70246800830882705</c:v>
                </c:pt>
                <c:pt idx="14">
                  <c:v>0.79776184983792231</c:v>
                </c:pt>
                <c:pt idx="15">
                  <c:v>0.8089106518584972</c:v>
                </c:pt>
                <c:pt idx="16">
                  <c:v>0.81129081593901187</c:v>
                </c:pt>
                <c:pt idx="17">
                  <c:v>0.83621593830747276</c:v>
                </c:pt>
                <c:pt idx="18">
                  <c:v>0.88140770422033388</c:v>
                </c:pt>
                <c:pt idx="19">
                  <c:v>0.83242683149270691</c:v>
                </c:pt>
                <c:pt idx="20">
                  <c:v>0.89572774577049585</c:v>
                </c:pt>
                <c:pt idx="21">
                  <c:v>0.93566488882102472</c:v>
                </c:pt>
                <c:pt idx="22">
                  <c:v>0.90824214391625191</c:v>
                </c:pt>
                <c:pt idx="23">
                  <c:v>0.91615578077209381</c:v>
                </c:pt>
                <c:pt idx="24">
                  <c:v>0.91147217553737758</c:v>
                </c:pt>
                <c:pt idx="25">
                  <c:v>0.95064714987214127</c:v>
                </c:pt>
                <c:pt idx="26">
                  <c:v>0.96184928214806276</c:v>
                </c:pt>
                <c:pt idx="27">
                  <c:v>0.97126666912886594</c:v>
                </c:pt>
                <c:pt idx="28">
                  <c:v>0.86713212422180208</c:v>
                </c:pt>
                <c:pt idx="29">
                  <c:v>0.84008735135730717</c:v>
                </c:pt>
                <c:pt idx="30">
                  <c:v>0.85394753072703611</c:v>
                </c:pt>
                <c:pt idx="31">
                  <c:v>0.85272342541037449</c:v>
                </c:pt>
                <c:pt idx="32">
                  <c:v>0.87251599096540322</c:v>
                </c:pt>
                <c:pt idx="33">
                  <c:v>0.92605956637724796</c:v>
                </c:pt>
                <c:pt idx="34">
                  <c:v>0.95487657300897688</c:v>
                </c:pt>
                <c:pt idx="35">
                  <c:v>0.98047019400874458</c:v>
                </c:pt>
                <c:pt idx="36">
                  <c:v>1</c:v>
                </c:pt>
                <c:pt idx="37">
                  <c:v>0.99302775954519262</c:v>
                </c:pt>
                <c:pt idx="38">
                  <c:v>0.94330213847165045</c:v>
                </c:pt>
                <c:pt idx="39">
                  <c:v>0.94927390597469807</c:v>
                </c:pt>
                <c:pt idx="40">
                  <c:v>0.91197269264194636</c:v>
                </c:pt>
                <c:pt idx="41">
                  <c:v>0.86315463438335438</c:v>
                </c:pt>
                <c:pt idx="42">
                  <c:v>0.87786559502326411</c:v>
                </c:pt>
                <c:pt idx="43">
                  <c:v>0.69880140211102981</c:v>
                </c:pt>
                <c:pt idx="44">
                  <c:v>0.61564644847645322</c:v>
                </c:pt>
                <c:pt idx="45">
                  <c:v>0.60765441863393965</c:v>
                </c:pt>
                <c:pt idx="46">
                  <c:v>0.61278715429785657</c:v>
                </c:pt>
                <c:pt idx="47">
                  <c:v>0.64016458236153762</c:v>
                </c:pt>
                <c:pt idx="48">
                  <c:v>0.632891020038298</c:v>
                </c:pt>
                <c:pt idx="49">
                  <c:v>0.64085533849904341</c:v>
                </c:pt>
                <c:pt idx="50">
                  <c:v>0.63371862305663773</c:v>
                </c:pt>
                <c:pt idx="51">
                  <c:v>0.59894167996637682</c:v>
                </c:pt>
                <c:pt idx="52">
                  <c:v>0.5554846472527285</c:v>
                </c:pt>
                <c:pt idx="53">
                  <c:v>0.51290662232251583</c:v>
                </c:pt>
                <c:pt idx="54">
                  <c:v>0.49723417795753666</c:v>
                </c:pt>
                <c:pt idx="55">
                  <c:v>0.4679645157758866</c:v>
                </c:pt>
                <c:pt idx="56">
                  <c:v>0.43860059348849617</c:v>
                </c:pt>
                <c:pt idx="57">
                  <c:v>0.43241607614244609</c:v>
                </c:pt>
                <c:pt idx="58">
                  <c:v>0.41412830090977393</c:v>
                </c:pt>
                <c:pt idx="59">
                  <c:v>0.37788901423971638</c:v>
                </c:pt>
                <c:pt idx="60">
                  <c:v>0.39072613056910321</c:v>
                </c:pt>
                <c:pt idx="61">
                  <c:v>0.35025790846208665</c:v>
                </c:pt>
                <c:pt idx="62">
                  <c:v>0.30909027936158523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8B2-4F58-84B7-E5BDC463B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3034848"/>
        <c:axId val="1"/>
      </c:scatterChart>
      <c:valAx>
        <c:axId val="1553034848"/>
        <c:scaling>
          <c:orientation val="minMax"/>
          <c:max val="1500"/>
          <c:min val="4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crossAx val="1"/>
        <c:crosses val="autoZero"/>
        <c:crossBetween val="midCat"/>
      </c:valAx>
      <c:valAx>
        <c:axId val="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Relative response</a:t>
                </a:r>
              </a:p>
            </c:rich>
          </c:tx>
          <c:layout>
            <c:manualLayout>
              <c:xMode val="edge"/>
              <c:yMode val="edge"/>
              <c:x val="8.6805555555555559E-3"/>
              <c:y val="0.3179513888888888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303484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2400">
          <a:solidFill>
            <a:sysClr val="windowText" lastClr="00000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2"/>
          <c:order val="0"/>
          <c:tx>
            <c:strRef>
              <c:f>'concept (2)'!$I$1</c:f>
              <c:strCache>
                <c:ptCount val="1"/>
                <c:pt idx="0">
                  <c:v>VPD</c:v>
                </c:pt>
              </c:strCache>
            </c:strRef>
          </c:tx>
          <c:spPr>
            <a:ln w="31750" cap="rnd">
              <a:noFill/>
              <a:prstDash val="sysDash"/>
              <a:round/>
            </a:ln>
            <a:effectLst/>
          </c:spPr>
          <c:marker>
            <c:symbol val="none"/>
          </c:marker>
          <c:trendline>
            <c:spPr>
              <a:ln w="25400">
                <a:solidFill>
                  <a:srgbClr val="0070C0"/>
                </a:solidFill>
              </a:ln>
            </c:spPr>
            <c:trendlineType val="poly"/>
            <c:order val="2"/>
            <c:dispRSqr val="0"/>
            <c:dispEq val="0"/>
          </c:trendline>
          <c:xVal>
            <c:numRef>
              <c:f>'concept (2)'!$C$35:$C$97</c:f>
              <c:numCache>
                <c:formatCode>General</c:formatCode>
                <c:ptCount val="63"/>
                <c:pt idx="0">
                  <c:v>495</c:v>
                </c:pt>
                <c:pt idx="1">
                  <c:v>510</c:v>
                </c:pt>
                <c:pt idx="2">
                  <c:v>525</c:v>
                </c:pt>
                <c:pt idx="3">
                  <c:v>540</c:v>
                </c:pt>
                <c:pt idx="4">
                  <c:v>555</c:v>
                </c:pt>
                <c:pt idx="5">
                  <c:v>570</c:v>
                </c:pt>
                <c:pt idx="6">
                  <c:v>585</c:v>
                </c:pt>
                <c:pt idx="7">
                  <c:v>600</c:v>
                </c:pt>
                <c:pt idx="8">
                  <c:v>615</c:v>
                </c:pt>
                <c:pt idx="9">
                  <c:v>630</c:v>
                </c:pt>
                <c:pt idx="10">
                  <c:v>645</c:v>
                </c:pt>
                <c:pt idx="11">
                  <c:v>660</c:v>
                </c:pt>
                <c:pt idx="12">
                  <c:v>675</c:v>
                </c:pt>
                <c:pt idx="13">
                  <c:v>690</c:v>
                </c:pt>
                <c:pt idx="14">
                  <c:v>705</c:v>
                </c:pt>
                <c:pt idx="15">
                  <c:v>720</c:v>
                </c:pt>
                <c:pt idx="16">
                  <c:v>735</c:v>
                </c:pt>
                <c:pt idx="17">
                  <c:v>750</c:v>
                </c:pt>
                <c:pt idx="18">
                  <c:v>765</c:v>
                </c:pt>
                <c:pt idx="19">
                  <c:v>780</c:v>
                </c:pt>
                <c:pt idx="20">
                  <c:v>795</c:v>
                </c:pt>
                <c:pt idx="21">
                  <c:v>810</c:v>
                </c:pt>
                <c:pt idx="22">
                  <c:v>825</c:v>
                </c:pt>
                <c:pt idx="23">
                  <c:v>840</c:v>
                </c:pt>
                <c:pt idx="24">
                  <c:v>855</c:v>
                </c:pt>
                <c:pt idx="25">
                  <c:v>870</c:v>
                </c:pt>
                <c:pt idx="26">
                  <c:v>885</c:v>
                </c:pt>
                <c:pt idx="27">
                  <c:v>900</c:v>
                </c:pt>
                <c:pt idx="28">
                  <c:v>915</c:v>
                </c:pt>
                <c:pt idx="29">
                  <c:v>930</c:v>
                </c:pt>
                <c:pt idx="30">
                  <c:v>945</c:v>
                </c:pt>
                <c:pt idx="31">
                  <c:v>960</c:v>
                </c:pt>
                <c:pt idx="32">
                  <c:v>975</c:v>
                </c:pt>
                <c:pt idx="33">
                  <c:v>990</c:v>
                </c:pt>
                <c:pt idx="34">
                  <c:v>1005</c:v>
                </c:pt>
                <c:pt idx="35">
                  <c:v>1020</c:v>
                </c:pt>
                <c:pt idx="36">
                  <c:v>1035</c:v>
                </c:pt>
                <c:pt idx="37">
                  <c:v>1050</c:v>
                </c:pt>
                <c:pt idx="38">
                  <c:v>1065</c:v>
                </c:pt>
                <c:pt idx="39">
                  <c:v>1080</c:v>
                </c:pt>
                <c:pt idx="40">
                  <c:v>1095</c:v>
                </c:pt>
                <c:pt idx="41">
                  <c:v>1110</c:v>
                </c:pt>
                <c:pt idx="42">
                  <c:v>1125</c:v>
                </c:pt>
                <c:pt idx="43">
                  <c:v>1140</c:v>
                </c:pt>
                <c:pt idx="44">
                  <c:v>1155</c:v>
                </c:pt>
                <c:pt idx="45">
                  <c:v>1170</c:v>
                </c:pt>
                <c:pt idx="46">
                  <c:v>1185</c:v>
                </c:pt>
                <c:pt idx="47">
                  <c:v>1200</c:v>
                </c:pt>
                <c:pt idx="48">
                  <c:v>1215</c:v>
                </c:pt>
                <c:pt idx="49">
                  <c:v>1230</c:v>
                </c:pt>
                <c:pt idx="50">
                  <c:v>1245</c:v>
                </c:pt>
                <c:pt idx="51">
                  <c:v>1260</c:v>
                </c:pt>
                <c:pt idx="52">
                  <c:v>1275</c:v>
                </c:pt>
                <c:pt idx="53">
                  <c:v>1290</c:v>
                </c:pt>
                <c:pt idx="54">
                  <c:v>1305</c:v>
                </c:pt>
                <c:pt idx="55">
                  <c:v>1320</c:v>
                </c:pt>
                <c:pt idx="56">
                  <c:v>1335</c:v>
                </c:pt>
                <c:pt idx="57">
                  <c:v>1350</c:v>
                </c:pt>
                <c:pt idx="58">
                  <c:v>1365</c:v>
                </c:pt>
                <c:pt idx="59">
                  <c:v>1380</c:v>
                </c:pt>
                <c:pt idx="60">
                  <c:v>1395</c:v>
                </c:pt>
                <c:pt idx="61">
                  <c:v>1410</c:v>
                </c:pt>
                <c:pt idx="62">
                  <c:v>1425</c:v>
                </c:pt>
              </c:numCache>
            </c:numRef>
          </c:xVal>
          <c:yVal>
            <c:numRef>
              <c:f>'concept (2)'!$L$35:$L$97</c:f>
              <c:numCache>
                <c:formatCode>General</c:formatCode>
                <c:ptCount val="63"/>
                <c:pt idx="0">
                  <c:v>0.3413971179343307</c:v>
                </c:pt>
                <c:pt idx="1">
                  <c:v>0.32953604067428871</c:v>
                </c:pt>
                <c:pt idx="2">
                  <c:v>0.34066438238699187</c:v>
                </c:pt>
                <c:pt idx="3">
                  <c:v>0.45342190738754617</c:v>
                </c:pt>
                <c:pt idx="4">
                  <c:v>0.49690571834839148</c:v>
                </c:pt>
                <c:pt idx="5">
                  <c:v>0.47670822589395473</c:v>
                </c:pt>
                <c:pt idx="6">
                  <c:v>0.49114975700100233</c:v>
                </c:pt>
                <c:pt idx="7">
                  <c:v>0.49735379054265344</c:v>
                </c:pt>
                <c:pt idx="8">
                  <c:v>0.5815040047725194</c:v>
                </c:pt>
                <c:pt idx="9">
                  <c:v>0.60665931705909348</c:v>
                </c:pt>
                <c:pt idx="10">
                  <c:v>0.66530786948778353</c:v>
                </c:pt>
                <c:pt idx="11">
                  <c:v>0.69890412587698425</c:v>
                </c:pt>
                <c:pt idx="12">
                  <c:v>0.76068886932741342</c:v>
                </c:pt>
                <c:pt idx="13">
                  <c:v>0.70246800830882705</c:v>
                </c:pt>
                <c:pt idx="14">
                  <c:v>0.79776184983792231</c:v>
                </c:pt>
                <c:pt idx="15">
                  <c:v>0.8089106518584972</c:v>
                </c:pt>
                <c:pt idx="16">
                  <c:v>0.81129081593901187</c:v>
                </c:pt>
                <c:pt idx="17">
                  <c:v>0.83621593830747276</c:v>
                </c:pt>
                <c:pt idx="18">
                  <c:v>0.88140770422033388</c:v>
                </c:pt>
                <c:pt idx="19">
                  <c:v>0.83242683149270691</c:v>
                </c:pt>
                <c:pt idx="20">
                  <c:v>0.89572774577049585</c:v>
                </c:pt>
                <c:pt idx="21">
                  <c:v>0.93566488882102472</c:v>
                </c:pt>
                <c:pt idx="22">
                  <c:v>0.90824214391625191</c:v>
                </c:pt>
                <c:pt idx="23">
                  <c:v>0.91615578077209381</c:v>
                </c:pt>
                <c:pt idx="24">
                  <c:v>0.91147217553737758</c:v>
                </c:pt>
                <c:pt idx="25">
                  <c:v>0.95064714987214127</c:v>
                </c:pt>
                <c:pt idx="26">
                  <c:v>0.96184928214806276</c:v>
                </c:pt>
                <c:pt idx="27">
                  <c:v>0.97126666912886594</c:v>
                </c:pt>
                <c:pt idx="28">
                  <c:v>0.86713212422180208</c:v>
                </c:pt>
                <c:pt idx="29">
                  <c:v>0.84008735135730717</c:v>
                </c:pt>
                <c:pt idx="30">
                  <c:v>0.85394753072703611</c:v>
                </c:pt>
                <c:pt idx="31">
                  <c:v>0.85272342541037449</c:v>
                </c:pt>
                <c:pt idx="32">
                  <c:v>0.87251599096540322</c:v>
                </c:pt>
                <c:pt idx="33">
                  <c:v>0.92605956637724796</c:v>
                </c:pt>
                <c:pt idx="34">
                  <c:v>0.95487657300897688</c:v>
                </c:pt>
                <c:pt idx="35">
                  <c:v>0.98047019400874458</c:v>
                </c:pt>
                <c:pt idx="36">
                  <c:v>1</c:v>
                </c:pt>
                <c:pt idx="37">
                  <c:v>0.99302775954519262</c:v>
                </c:pt>
                <c:pt idx="38">
                  <c:v>0.94330213847165045</c:v>
                </c:pt>
                <c:pt idx="39">
                  <c:v>0.94927390597469807</c:v>
                </c:pt>
                <c:pt idx="40">
                  <c:v>0.91197269264194636</c:v>
                </c:pt>
                <c:pt idx="41">
                  <c:v>0.86315463438335438</c:v>
                </c:pt>
                <c:pt idx="42">
                  <c:v>0.87786559502326411</c:v>
                </c:pt>
                <c:pt idx="43">
                  <c:v>0.69880140211102981</c:v>
                </c:pt>
                <c:pt idx="44">
                  <c:v>0.61564644847645322</c:v>
                </c:pt>
                <c:pt idx="45">
                  <c:v>0.60765441863393965</c:v>
                </c:pt>
                <c:pt idx="46">
                  <c:v>0.61278715429785657</c:v>
                </c:pt>
                <c:pt idx="47">
                  <c:v>0.64016458236153762</c:v>
                </c:pt>
                <c:pt idx="48">
                  <c:v>0.632891020038298</c:v>
                </c:pt>
                <c:pt idx="49">
                  <c:v>0.64085533849904341</c:v>
                </c:pt>
                <c:pt idx="50">
                  <c:v>0.63371862305663773</c:v>
                </c:pt>
                <c:pt idx="51">
                  <c:v>0.59894167996637682</c:v>
                </c:pt>
                <c:pt idx="52">
                  <c:v>0.5554846472527285</c:v>
                </c:pt>
                <c:pt idx="53">
                  <c:v>0.51290662232251583</c:v>
                </c:pt>
                <c:pt idx="54">
                  <c:v>0.49723417795753666</c:v>
                </c:pt>
                <c:pt idx="55">
                  <c:v>0.4679645157758866</c:v>
                </c:pt>
                <c:pt idx="56">
                  <c:v>0.43860059348849617</c:v>
                </c:pt>
                <c:pt idx="57">
                  <c:v>0.43241607614244609</c:v>
                </c:pt>
                <c:pt idx="58">
                  <c:v>0.41412830090977393</c:v>
                </c:pt>
                <c:pt idx="59">
                  <c:v>0.37788901423971638</c:v>
                </c:pt>
                <c:pt idx="60">
                  <c:v>0.39072613056910321</c:v>
                </c:pt>
                <c:pt idx="61">
                  <c:v>0.35025790846208665</c:v>
                </c:pt>
                <c:pt idx="62">
                  <c:v>0.30909027936158523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A18-472B-B53D-8B9DF583A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3034368"/>
        <c:axId val="1"/>
      </c:scatterChart>
      <c:valAx>
        <c:axId val="1553034368"/>
        <c:scaling>
          <c:orientation val="minMax"/>
          <c:max val="1500"/>
          <c:min val="4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crossAx val="1"/>
        <c:crosses val="autoZero"/>
        <c:crossBetween val="midCat"/>
      </c:valAx>
      <c:valAx>
        <c:axId val="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Relative response</a:t>
                </a:r>
              </a:p>
            </c:rich>
          </c:tx>
          <c:layout>
            <c:manualLayout>
              <c:xMode val="edge"/>
              <c:yMode val="edge"/>
              <c:x val="8.6805555555555559E-3"/>
              <c:y val="0.3179513888888888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303436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2400">
          <a:solidFill>
            <a:sysClr val="windowText" lastClr="000000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2"/>
          <c:order val="0"/>
          <c:tx>
            <c:strRef>
              <c:f>'concept (2)'!$I$1</c:f>
              <c:strCache>
                <c:ptCount val="1"/>
                <c:pt idx="0">
                  <c:v>VPD</c:v>
                </c:pt>
              </c:strCache>
            </c:strRef>
          </c:tx>
          <c:spPr>
            <a:ln w="31750" cap="rnd">
              <a:noFill/>
              <a:prstDash val="sysDash"/>
              <a:round/>
            </a:ln>
            <a:effectLst/>
          </c:spPr>
          <c:marker>
            <c:symbol val="none"/>
          </c:marker>
          <c:trendline>
            <c:spPr>
              <a:ln w="25400">
                <a:solidFill>
                  <a:srgbClr val="FF0000"/>
                </a:solidFill>
              </a:ln>
            </c:spPr>
            <c:trendlineType val="poly"/>
            <c:order val="2"/>
            <c:dispRSqr val="0"/>
            <c:dispEq val="0"/>
          </c:trendline>
          <c:xVal>
            <c:numRef>
              <c:f>'concept (2)'!$C$35:$C$97</c:f>
              <c:numCache>
                <c:formatCode>General</c:formatCode>
                <c:ptCount val="63"/>
                <c:pt idx="0">
                  <c:v>495</c:v>
                </c:pt>
                <c:pt idx="1">
                  <c:v>510</c:v>
                </c:pt>
                <c:pt idx="2">
                  <c:v>525</c:v>
                </c:pt>
                <c:pt idx="3">
                  <c:v>540</c:v>
                </c:pt>
                <c:pt idx="4">
                  <c:v>555</c:v>
                </c:pt>
                <c:pt idx="5">
                  <c:v>570</c:v>
                </c:pt>
                <c:pt idx="6">
                  <c:v>585</c:v>
                </c:pt>
                <c:pt idx="7">
                  <c:v>600</c:v>
                </c:pt>
                <c:pt idx="8">
                  <c:v>615</c:v>
                </c:pt>
                <c:pt idx="9">
                  <c:v>630</c:v>
                </c:pt>
                <c:pt idx="10">
                  <c:v>645</c:v>
                </c:pt>
                <c:pt idx="11">
                  <c:v>660</c:v>
                </c:pt>
                <c:pt idx="12">
                  <c:v>675</c:v>
                </c:pt>
                <c:pt idx="13">
                  <c:v>690</c:v>
                </c:pt>
                <c:pt idx="14">
                  <c:v>705</c:v>
                </c:pt>
                <c:pt idx="15">
                  <c:v>720</c:v>
                </c:pt>
                <c:pt idx="16">
                  <c:v>735</c:v>
                </c:pt>
                <c:pt idx="17">
                  <c:v>750</c:v>
                </c:pt>
                <c:pt idx="18">
                  <c:v>765</c:v>
                </c:pt>
                <c:pt idx="19">
                  <c:v>780</c:v>
                </c:pt>
                <c:pt idx="20">
                  <c:v>795</c:v>
                </c:pt>
                <c:pt idx="21">
                  <c:v>810</c:v>
                </c:pt>
                <c:pt idx="22">
                  <c:v>825</c:v>
                </c:pt>
                <c:pt idx="23">
                  <c:v>840</c:v>
                </c:pt>
                <c:pt idx="24">
                  <c:v>855</c:v>
                </c:pt>
                <c:pt idx="25">
                  <c:v>870</c:v>
                </c:pt>
                <c:pt idx="26">
                  <c:v>885</c:v>
                </c:pt>
                <c:pt idx="27">
                  <c:v>900</c:v>
                </c:pt>
                <c:pt idx="28">
                  <c:v>915</c:v>
                </c:pt>
                <c:pt idx="29">
                  <c:v>930</c:v>
                </c:pt>
                <c:pt idx="30">
                  <c:v>945</c:v>
                </c:pt>
                <c:pt idx="31">
                  <c:v>960</c:v>
                </c:pt>
                <c:pt idx="32">
                  <c:v>975</c:v>
                </c:pt>
                <c:pt idx="33">
                  <c:v>990</c:v>
                </c:pt>
                <c:pt idx="34">
                  <c:v>1005</c:v>
                </c:pt>
                <c:pt idx="35">
                  <c:v>1020</c:v>
                </c:pt>
                <c:pt idx="36">
                  <c:v>1035</c:v>
                </c:pt>
                <c:pt idx="37">
                  <c:v>1050</c:v>
                </c:pt>
                <c:pt idx="38">
                  <c:v>1065</c:v>
                </c:pt>
                <c:pt idx="39">
                  <c:v>1080</c:v>
                </c:pt>
                <c:pt idx="40">
                  <c:v>1095</c:v>
                </c:pt>
                <c:pt idx="41">
                  <c:v>1110</c:v>
                </c:pt>
                <c:pt idx="42">
                  <c:v>1125</c:v>
                </c:pt>
                <c:pt idx="43">
                  <c:v>1140</c:v>
                </c:pt>
                <c:pt idx="44">
                  <c:v>1155</c:v>
                </c:pt>
                <c:pt idx="45">
                  <c:v>1170</c:v>
                </c:pt>
                <c:pt idx="46">
                  <c:v>1185</c:v>
                </c:pt>
                <c:pt idx="47">
                  <c:v>1200</c:v>
                </c:pt>
                <c:pt idx="48">
                  <c:v>1215</c:v>
                </c:pt>
                <c:pt idx="49">
                  <c:v>1230</c:v>
                </c:pt>
                <c:pt idx="50">
                  <c:v>1245</c:v>
                </c:pt>
                <c:pt idx="51">
                  <c:v>1260</c:v>
                </c:pt>
                <c:pt idx="52">
                  <c:v>1275</c:v>
                </c:pt>
                <c:pt idx="53">
                  <c:v>1290</c:v>
                </c:pt>
                <c:pt idx="54">
                  <c:v>1305</c:v>
                </c:pt>
                <c:pt idx="55">
                  <c:v>1320</c:v>
                </c:pt>
                <c:pt idx="56">
                  <c:v>1335</c:v>
                </c:pt>
                <c:pt idx="57">
                  <c:v>1350</c:v>
                </c:pt>
                <c:pt idx="58">
                  <c:v>1365</c:v>
                </c:pt>
                <c:pt idx="59">
                  <c:v>1380</c:v>
                </c:pt>
                <c:pt idx="60">
                  <c:v>1395</c:v>
                </c:pt>
                <c:pt idx="61">
                  <c:v>1410</c:v>
                </c:pt>
                <c:pt idx="62">
                  <c:v>1425</c:v>
                </c:pt>
              </c:numCache>
            </c:numRef>
          </c:xVal>
          <c:yVal>
            <c:numRef>
              <c:f>'concept (2)'!$L$35:$L$97</c:f>
              <c:numCache>
                <c:formatCode>General</c:formatCode>
                <c:ptCount val="63"/>
                <c:pt idx="0">
                  <c:v>0.3413971179343307</c:v>
                </c:pt>
                <c:pt idx="1">
                  <c:v>0.32953604067428871</c:v>
                </c:pt>
                <c:pt idx="2">
                  <c:v>0.34066438238699187</c:v>
                </c:pt>
                <c:pt idx="3">
                  <c:v>0.45342190738754617</c:v>
                </c:pt>
                <c:pt idx="4">
                  <c:v>0.49690571834839148</c:v>
                </c:pt>
                <c:pt idx="5">
                  <c:v>0.47670822589395473</c:v>
                </c:pt>
                <c:pt idx="6">
                  <c:v>0.49114975700100233</c:v>
                </c:pt>
                <c:pt idx="7">
                  <c:v>0.49735379054265344</c:v>
                </c:pt>
                <c:pt idx="8">
                  <c:v>0.5815040047725194</c:v>
                </c:pt>
                <c:pt idx="9">
                  <c:v>0.60665931705909348</c:v>
                </c:pt>
                <c:pt idx="10">
                  <c:v>0.66530786948778353</c:v>
                </c:pt>
                <c:pt idx="11">
                  <c:v>0.69890412587698425</c:v>
                </c:pt>
                <c:pt idx="12">
                  <c:v>0.76068886932741342</c:v>
                </c:pt>
                <c:pt idx="13">
                  <c:v>0.70246800830882705</c:v>
                </c:pt>
                <c:pt idx="14">
                  <c:v>0.79776184983792231</c:v>
                </c:pt>
                <c:pt idx="15">
                  <c:v>0.8089106518584972</c:v>
                </c:pt>
                <c:pt idx="16">
                  <c:v>0.81129081593901187</c:v>
                </c:pt>
                <c:pt idx="17">
                  <c:v>0.83621593830747276</c:v>
                </c:pt>
                <c:pt idx="18">
                  <c:v>0.88140770422033388</c:v>
                </c:pt>
                <c:pt idx="19">
                  <c:v>0.83242683149270691</c:v>
                </c:pt>
                <c:pt idx="20">
                  <c:v>0.89572774577049585</c:v>
                </c:pt>
                <c:pt idx="21">
                  <c:v>0.93566488882102472</c:v>
                </c:pt>
                <c:pt idx="22">
                  <c:v>0.90824214391625191</c:v>
                </c:pt>
                <c:pt idx="23">
                  <c:v>0.91615578077209381</c:v>
                </c:pt>
                <c:pt idx="24">
                  <c:v>0.91147217553737758</c:v>
                </c:pt>
                <c:pt idx="25">
                  <c:v>0.95064714987214127</c:v>
                </c:pt>
                <c:pt idx="26">
                  <c:v>0.96184928214806276</c:v>
                </c:pt>
                <c:pt idx="27">
                  <c:v>0.97126666912886594</c:v>
                </c:pt>
                <c:pt idx="28">
                  <c:v>0.86713212422180208</c:v>
                </c:pt>
                <c:pt idx="29">
                  <c:v>0.84008735135730717</c:v>
                </c:pt>
                <c:pt idx="30">
                  <c:v>0.85394753072703611</c:v>
                </c:pt>
                <c:pt idx="31">
                  <c:v>0.85272342541037449</c:v>
                </c:pt>
                <c:pt idx="32">
                  <c:v>0.87251599096540322</c:v>
                </c:pt>
                <c:pt idx="33">
                  <c:v>0.92605956637724796</c:v>
                </c:pt>
                <c:pt idx="34">
                  <c:v>0.95487657300897688</c:v>
                </c:pt>
                <c:pt idx="35">
                  <c:v>0.98047019400874458</c:v>
                </c:pt>
                <c:pt idx="36">
                  <c:v>1</c:v>
                </c:pt>
                <c:pt idx="37">
                  <c:v>0.99302775954519262</c:v>
                </c:pt>
                <c:pt idx="38">
                  <c:v>0.94330213847165045</c:v>
                </c:pt>
                <c:pt idx="39">
                  <c:v>0.94927390597469807</c:v>
                </c:pt>
                <c:pt idx="40">
                  <c:v>0.91197269264194636</c:v>
                </c:pt>
                <c:pt idx="41">
                  <c:v>0.86315463438335438</c:v>
                </c:pt>
                <c:pt idx="42">
                  <c:v>0.87786559502326411</c:v>
                </c:pt>
                <c:pt idx="43">
                  <c:v>0.69880140211102981</c:v>
                </c:pt>
                <c:pt idx="44">
                  <c:v>0.61564644847645322</c:v>
                </c:pt>
                <c:pt idx="45">
                  <c:v>0.60765441863393965</c:v>
                </c:pt>
                <c:pt idx="46">
                  <c:v>0.61278715429785657</c:v>
                </c:pt>
                <c:pt idx="47">
                  <c:v>0.64016458236153762</c:v>
                </c:pt>
                <c:pt idx="48">
                  <c:v>0.632891020038298</c:v>
                </c:pt>
                <c:pt idx="49">
                  <c:v>0.64085533849904341</c:v>
                </c:pt>
                <c:pt idx="50">
                  <c:v>0.63371862305663773</c:v>
                </c:pt>
                <c:pt idx="51">
                  <c:v>0.59894167996637682</c:v>
                </c:pt>
                <c:pt idx="52">
                  <c:v>0.5554846472527285</c:v>
                </c:pt>
                <c:pt idx="53">
                  <c:v>0.51290662232251583</c:v>
                </c:pt>
                <c:pt idx="54">
                  <c:v>0.49723417795753666</c:v>
                </c:pt>
                <c:pt idx="55">
                  <c:v>0.4679645157758866</c:v>
                </c:pt>
                <c:pt idx="56">
                  <c:v>0.43860059348849617</c:v>
                </c:pt>
                <c:pt idx="57">
                  <c:v>0.43241607614244609</c:v>
                </c:pt>
                <c:pt idx="58">
                  <c:v>0.41412830090977393</c:v>
                </c:pt>
                <c:pt idx="59">
                  <c:v>0.37788901423971638</c:v>
                </c:pt>
                <c:pt idx="60">
                  <c:v>0.39072613056910321</c:v>
                </c:pt>
                <c:pt idx="61">
                  <c:v>0.35025790846208665</c:v>
                </c:pt>
                <c:pt idx="62">
                  <c:v>0.30909027936158523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8B2-4F58-84B7-E5BDC463B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3034848"/>
        <c:axId val="1"/>
      </c:scatterChart>
      <c:valAx>
        <c:axId val="1553034848"/>
        <c:scaling>
          <c:orientation val="minMax"/>
          <c:max val="1500"/>
          <c:min val="4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crossAx val="1"/>
        <c:crosses val="autoZero"/>
        <c:crossBetween val="midCat"/>
      </c:valAx>
      <c:valAx>
        <c:axId val="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Relative response</a:t>
                </a:r>
              </a:p>
            </c:rich>
          </c:tx>
          <c:layout>
            <c:manualLayout>
              <c:xMode val="edge"/>
              <c:yMode val="edge"/>
              <c:x val="8.6805555555555559E-3"/>
              <c:y val="0.3179513888888888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303484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2400">
          <a:solidFill>
            <a:sysClr val="windowText" lastClr="000000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2"/>
          <c:order val="0"/>
          <c:tx>
            <c:strRef>
              <c:f>'concept (2)'!$I$1</c:f>
              <c:strCache>
                <c:ptCount val="1"/>
                <c:pt idx="0">
                  <c:v>VPD</c:v>
                </c:pt>
              </c:strCache>
            </c:strRef>
          </c:tx>
          <c:spPr>
            <a:ln w="31750" cap="rnd">
              <a:noFill/>
              <a:prstDash val="sysDash"/>
              <a:round/>
            </a:ln>
            <a:effectLst/>
          </c:spPr>
          <c:marker>
            <c:symbol val="none"/>
          </c:marker>
          <c:trendline>
            <c:spPr>
              <a:ln w="25400">
                <a:solidFill>
                  <a:srgbClr val="0070C0"/>
                </a:solidFill>
              </a:ln>
            </c:spPr>
            <c:trendlineType val="poly"/>
            <c:order val="2"/>
            <c:dispRSqr val="0"/>
            <c:dispEq val="0"/>
          </c:trendline>
          <c:xVal>
            <c:numRef>
              <c:f>'concept (2)'!$C$35:$C$97</c:f>
              <c:numCache>
                <c:formatCode>General</c:formatCode>
                <c:ptCount val="63"/>
                <c:pt idx="0">
                  <c:v>495</c:v>
                </c:pt>
                <c:pt idx="1">
                  <c:v>510</c:v>
                </c:pt>
                <c:pt idx="2">
                  <c:v>525</c:v>
                </c:pt>
                <c:pt idx="3">
                  <c:v>540</c:v>
                </c:pt>
                <c:pt idx="4">
                  <c:v>555</c:v>
                </c:pt>
                <c:pt idx="5">
                  <c:v>570</c:v>
                </c:pt>
                <c:pt idx="6">
                  <c:v>585</c:v>
                </c:pt>
                <c:pt idx="7">
                  <c:v>600</c:v>
                </c:pt>
                <c:pt idx="8">
                  <c:v>615</c:v>
                </c:pt>
                <c:pt idx="9">
                  <c:v>630</c:v>
                </c:pt>
                <c:pt idx="10">
                  <c:v>645</c:v>
                </c:pt>
                <c:pt idx="11">
                  <c:v>660</c:v>
                </c:pt>
                <c:pt idx="12">
                  <c:v>675</c:v>
                </c:pt>
                <c:pt idx="13">
                  <c:v>690</c:v>
                </c:pt>
                <c:pt idx="14">
                  <c:v>705</c:v>
                </c:pt>
                <c:pt idx="15">
                  <c:v>720</c:v>
                </c:pt>
                <c:pt idx="16">
                  <c:v>735</c:v>
                </c:pt>
                <c:pt idx="17">
                  <c:v>750</c:v>
                </c:pt>
                <c:pt idx="18">
                  <c:v>765</c:v>
                </c:pt>
                <c:pt idx="19">
                  <c:v>780</c:v>
                </c:pt>
                <c:pt idx="20">
                  <c:v>795</c:v>
                </c:pt>
                <c:pt idx="21">
                  <c:v>810</c:v>
                </c:pt>
                <c:pt idx="22">
                  <c:v>825</c:v>
                </c:pt>
                <c:pt idx="23">
                  <c:v>840</c:v>
                </c:pt>
                <c:pt idx="24">
                  <c:v>855</c:v>
                </c:pt>
                <c:pt idx="25">
                  <c:v>870</c:v>
                </c:pt>
                <c:pt idx="26">
                  <c:v>885</c:v>
                </c:pt>
                <c:pt idx="27">
                  <c:v>900</c:v>
                </c:pt>
                <c:pt idx="28">
                  <c:v>915</c:v>
                </c:pt>
                <c:pt idx="29">
                  <c:v>930</c:v>
                </c:pt>
                <c:pt idx="30">
                  <c:v>945</c:v>
                </c:pt>
                <c:pt idx="31">
                  <c:v>960</c:v>
                </c:pt>
                <c:pt idx="32">
                  <c:v>975</c:v>
                </c:pt>
                <c:pt idx="33">
                  <c:v>990</c:v>
                </c:pt>
                <c:pt idx="34">
                  <c:v>1005</c:v>
                </c:pt>
                <c:pt idx="35">
                  <c:v>1020</c:v>
                </c:pt>
                <c:pt idx="36">
                  <c:v>1035</c:v>
                </c:pt>
                <c:pt idx="37">
                  <c:v>1050</c:v>
                </c:pt>
                <c:pt idx="38">
                  <c:v>1065</c:v>
                </c:pt>
                <c:pt idx="39">
                  <c:v>1080</c:v>
                </c:pt>
                <c:pt idx="40">
                  <c:v>1095</c:v>
                </c:pt>
                <c:pt idx="41">
                  <c:v>1110</c:v>
                </c:pt>
                <c:pt idx="42">
                  <c:v>1125</c:v>
                </c:pt>
                <c:pt idx="43">
                  <c:v>1140</c:v>
                </c:pt>
                <c:pt idx="44">
                  <c:v>1155</c:v>
                </c:pt>
                <c:pt idx="45">
                  <c:v>1170</c:v>
                </c:pt>
                <c:pt idx="46">
                  <c:v>1185</c:v>
                </c:pt>
                <c:pt idx="47">
                  <c:v>1200</c:v>
                </c:pt>
                <c:pt idx="48">
                  <c:v>1215</c:v>
                </c:pt>
                <c:pt idx="49">
                  <c:v>1230</c:v>
                </c:pt>
                <c:pt idx="50">
                  <c:v>1245</c:v>
                </c:pt>
                <c:pt idx="51">
                  <c:v>1260</c:v>
                </c:pt>
                <c:pt idx="52">
                  <c:v>1275</c:v>
                </c:pt>
                <c:pt idx="53">
                  <c:v>1290</c:v>
                </c:pt>
                <c:pt idx="54">
                  <c:v>1305</c:v>
                </c:pt>
                <c:pt idx="55">
                  <c:v>1320</c:v>
                </c:pt>
                <c:pt idx="56">
                  <c:v>1335</c:v>
                </c:pt>
                <c:pt idx="57">
                  <c:v>1350</c:v>
                </c:pt>
                <c:pt idx="58">
                  <c:v>1365</c:v>
                </c:pt>
                <c:pt idx="59">
                  <c:v>1380</c:v>
                </c:pt>
                <c:pt idx="60">
                  <c:v>1395</c:v>
                </c:pt>
                <c:pt idx="61">
                  <c:v>1410</c:v>
                </c:pt>
                <c:pt idx="62">
                  <c:v>1425</c:v>
                </c:pt>
              </c:numCache>
            </c:numRef>
          </c:xVal>
          <c:yVal>
            <c:numRef>
              <c:f>'concept (2)'!$L$35:$L$97</c:f>
              <c:numCache>
                <c:formatCode>General</c:formatCode>
                <c:ptCount val="63"/>
                <c:pt idx="0">
                  <c:v>0.3413971179343307</c:v>
                </c:pt>
                <c:pt idx="1">
                  <c:v>0.32953604067428871</c:v>
                </c:pt>
                <c:pt idx="2">
                  <c:v>0.34066438238699187</c:v>
                </c:pt>
                <c:pt idx="3">
                  <c:v>0.45342190738754617</c:v>
                </c:pt>
                <c:pt idx="4">
                  <c:v>0.49690571834839148</c:v>
                </c:pt>
                <c:pt idx="5">
                  <c:v>0.47670822589395473</c:v>
                </c:pt>
                <c:pt idx="6">
                  <c:v>0.49114975700100233</c:v>
                </c:pt>
                <c:pt idx="7">
                  <c:v>0.49735379054265344</c:v>
                </c:pt>
                <c:pt idx="8">
                  <c:v>0.5815040047725194</c:v>
                </c:pt>
                <c:pt idx="9">
                  <c:v>0.60665931705909348</c:v>
                </c:pt>
                <c:pt idx="10">
                  <c:v>0.66530786948778353</c:v>
                </c:pt>
                <c:pt idx="11">
                  <c:v>0.69890412587698425</c:v>
                </c:pt>
                <c:pt idx="12">
                  <c:v>0.76068886932741342</c:v>
                </c:pt>
                <c:pt idx="13">
                  <c:v>0.70246800830882705</c:v>
                </c:pt>
                <c:pt idx="14">
                  <c:v>0.79776184983792231</c:v>
                </c:pt>
                <c:pt idx="15">
                  <c:v>0.8089106518584972</c:v>
                </c:pt>
                <c:pt idx="16">
                  <c:v>0.81129081593901187</c:v>
                </c:pt>
                <c:pt idx="17">
                  <c:v>0.83621593830747276</c:v>
                </c:pt>
                <c:pt idx="18">
                  <c:v>0.88140770422033388</c:v>
                </c:pt>
                <c:pt idx="19">
                  <c:v>0.83242683149270691</c:v>
                </c:pt>
                <c:pt idx="20">
                  <c:v>0.89572774577049585</c:v>
                </c:pt>
                <c:pt idx="21">
                  <c:v>0.93566488882102472</c:v>
                </c:pt>
                <c:pt idx="22">
                  <c:v>0.90824214391625191</c:v>
                </c:pt>
                <c:pt idx="23">
                  <c:v>0.91615578077209381</c:v>
                </c:pt>
                <c:pt idx="24">
                  <c:v>0.91147217553737758</c:v>
                </c:pt>
                <c:pt idx="25">
                  <c:v>0.95064714987214127</c:v>
                </c:pt>
                <c:pt idx="26">
                  <c:v>0.96184928214806276</c:v>
                </c:pt>
                <c:pt idx="27">
                  <c:v>0.97126666912886594</c:v>
                </c:pt>
                <c:pt idx="28">
                  <c:v>0.86713212422180208</c:v>
                </c:pt>
                <c:pt idx="29">
                  <c:v>0.84008735135730717</c:v>
                </c:pt>
                <c:pt idx="30">
                  <c:v>0.85394753072703611</c:v>
                </c:pt>
                <c:pt idx="31">
                  <c:v>0.85272342541037449</c:v>
                </c:pt>
                <c:pt idx="32">
                  <c:v>0.87251599096540322</c:v>
                </c:pt>
                <c:pt idx="33">
                  <c:v>0.92605956637724796</c:v>
                </c:pt>
                <c:pt idx="34">
                  <c:v>0.95487657300897688</c:v>
                </c:pt>
                <c:pt idx="35">
                  <c:v>0.98047019400874458</c:v>
                </c:pt>
                <c:pt idx="36">
                  <c:v>1</c:v>
                </c:pt>
                <c:pt idx="37">
                  <c:v>0.99302775954519262</c:v>
                </c:pt>
                <c:pt idx="38">
                  <c:v>0.94330213847165045</c:v>
                </c:pt>
                <c:pt idx="39">
                  <c:v>0.94927390597469807</c:v>
                </c:pt>
                <c:pt idx="40">
                  <c:v>0.91197269264194636</c:v>
                </c:pt>
                <c:pt idx="41">
                  <c:v>0.86315463438335438</c:v>
                </c:pt>
                <c:pt idx="42">
                  <c:v>0.87786559502326411</c:v>
                </c:pt>
                <c:pt idx="43">
                  <c:v>0.69880140211102981</c:v>
                </c:pt>
                <c:pt idx="44">
                  <c:v>0.61564644847645322</c:v>
                </c:pt>
                <c:pt idx="45">
                  <c:v>0.60765441863393965</c:v>
                </c:pt>
                <c:pt idx="46">
                  <c:v>0.61278715429785657</c:v>
                </c:pt>
                <c:pt idx="47">
                  <c:v>0.64016458236153762</c:v>
                </c:pt>
                <c:pt idx="48">
                  <c:v>0.632891020038298</c:v>
                </c:pt>
                <c:pt idx="49">
                  <c:v>0.64085533849904341</c:v>
                </c:pt>
                <c:pt idx="50">
                  <c:v>0.63371862305663773</c:v>
                </c:pt>
                <c:pt idx="51">
                  <c:v>0.59894167996637682</c:v>
                </c:pt>
                <c:pt idx="52">
                  <c:v>0.5554846472527285</c:v>
                </c:pt>
                <c:pt idx="53">
                  <c:v>0.51290662232251583</c:v>
                </c:pt>
                <c:pt idx="54">
                  <c:v>0.49723417795753666</c:v>
                </c:pt>
                <c:pt idx="55">
                  <c:v>0.4679645157758866</c:v>
                </c:pt>
                <c:pt idx="56">
                  <c:v>0.43860059348849617</c:v>
                </c:pt>
                <c:pt idx="57">
                  <c:v>0.43241607614244609</c:v>
                </c:pt>
                <c:pt idx="58">
                  <c:v>0.41412830090977393</c:v>
                </c:pt>
                <c:pt idx="59">
                  <c:v>0.37788901423971638</c:v>
                </c:pt>
                <c:pt idx="60">
                  <c:v>0.39072613056910321</c:v>
                </c:pt>
                <c:pt idx="61">
                  <c:v>0.35025790846208665</c:v>
                </c:pt>
                <c:pt idx="62">
                  <c:v>0.30909027936158523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A18-472B-B53D-8B9DF583A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3034368"/>
        <c:axId val="1"/>
      </c:scatterChart>
      <c:valAx>
        <c:axId val="1553034368"/>
        <c:scaling>
          <c:orientation val="minMax"/>
          <c:max val="1500"/>
          <c:min val="4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crossAx val="1"/>
        <c:crosses val="autoZero"/>
        <c:crossBetween val="midCat"/>
      </c:valAx>
      <c:valAx>
        <c:axId val="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Relative response</a:t>
                </a:r>
              </a:p>
            </c:rich>
          </c:tx>
          <c:layout>
            <c:manualLayout>
              <c:xMode val="edge"/>
              <c:yMode val="edge"/>
              <c:x val="8.6805555555555559E-3"/>
              <c:y val="0.3179513888888888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303436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2400">
          <a:solidFill>
            <a:sysClr val="windowText" lastClr="000000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F85E2-B21D-436E-866B-0E38A5C88249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25F69-AC74-43C4-A9A5-A023B3F417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576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22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differences can have important implications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022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335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725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6D0F-2DE6-E255-8071-670DC7164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839B0-55DE-16A9-22F3-C3A61B65B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18B59-80B3-BFD8-1678-E48F81A2E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40C58-CA24-6789-B98B-A29450E80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6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770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FF18F-BE75-69D7-B451-DFF3391B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6E26C-B73A-01F3-E06A-9CBDD674C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619FB-1615-5841-FE7D-137BC0661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8ACEC-36C6-3D08-40C3-67CFCC929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55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546C9-43DE-B080-75B4-AD6B2BEF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8DB57-5555-2D74-F18B-1DC44D22B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3729B-AF24-D86C-9EEC-37F0002F8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DD1E4-E8D5-42CB-C68D-A3F45A3C8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2C2B7-7CD4-443B-98C3-2C994E2C34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3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8AA98-7D8F-3081-5765-017D00590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C3170-D6B1-2025-7155-7248612DB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62CD2-1E77-DE7E-D1A0-352D6DAF2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4763E-B5F3-BBEA-9753-4AAC648CB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2C2B7-7CD4-443B-98C3-2C994E2C34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71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FD88-177A-CC3F-0A5E-95944F23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15BA9-C92B-5E1D-8AD7-C4F7F058F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E27DA-33D1-7D4D-6B8F-B1057A783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79405-73D5-584A-A362-6AAB4F8D2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25F69-AC74-43C4-A9A5-A023B3F4174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624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84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91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21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0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26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38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66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86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73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7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3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2C67E-8177-4F16-AED7-F342570BD3C6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F3138-7939-4D21-83C4-3A0B86B00A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31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eelli@uark.edu" TargetMode="Externa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tiff"/><Relationship Id="rId5" Type="http://schemas.openxmlformats.org/officeDocument/2006/relationships/image" Target="../media/image12.emf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eelli@uark.ed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tiff"/><Relationship Id="rId5" Type="http://schemas.openxmlformats.org/officeDocument/2006/relationships/image" Target="../media/image21.emf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emf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A115763-A322-CCDE-03B8-C9EAA3E995FD}"/>
              </a:ext>
            </a:extLst>
          </p:cNvPr>
          <p:cNvSpPr txBox="1">
            <a:spLocks/>
          </p:cNvSpPr>
          <p:nvPr/>
        </p:nvSpPr>
        <p:spPr>
          <a:xfrm>
            <a:off x="1" y="6021971"/>
            <a:ext cx="12191999" cy="836019"/>
          </a:xfrm>
          <a:prstGeom prst="rect">
            <a:avLst/>
          </a:prstGeom>
          <a:solidFill>
            <a:srgbClr val="9C213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6663CD-0D46-2327-E69A-4589B2DAA1DA}"/>
              </a:ext>
            </a:extLst>
          </p:cNvPr>
          <p:cNvSpPr txBox="1">
            <a:spLocks/>
          </p:cNvSpPr>
          <p:nvPr/>
        </p:nvSpPr>
        <p:spPr>
          <a:xfrm>
            <a:off x="0" y="1803166"/>
            <a:ext cx="8122596" cy="14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9C21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Modeling crop physiological strategies to alleviate soybean drought stress in the US-Midsouth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58E5AA-61C1-A496-49CE-578852F9DB9F}"/>
              </a:ext>
            </a:extLst>
          </p:cNvPr>
          <p:cNvCxnSpPr>
            <a:cxnSpLocks/>
          </p:cNvCxnSpPr>
          <p:nvPr/>
        </p:nvCxnSpPr>
        <p:spPr>
          <a:xfrm>
            <a:off x="0" y="3227161"/>
            <a:ext cx="7650480" cy="0"/>
          </a:xfrm>
          <a:prstGeom prst="line">
            <a:avLst/>
          </a:prstGeom>
          <a:ln w="38100">
            <a:solidFill>
              <a:srgbClr val="9C2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101AE8A1-2E93-536A-A92E-CE055D4A4B92}"/>
              </a:ext>
            </a:extLst>
          </p:cNvPr>
          <p:cNvSpPr txBox="1">
            <a:spLocks/>
          </p:cNvSpPr>
          <p:nvPr/>
        </p:nvSpPr>
        <p:spPr>
          <a:xfrm>
            <a:off x="136776" y="3429000"/>
            <a:ext cx="6877110" cy="1698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Elvis Elli</a:t>
            </a:r>
            <a:endParaRPr lang="en-US" sz="2400" dirty="0">
              <a:solidFill>
                <a:srgbClr val="A51E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Assistant Professor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Arkansas System Division of Agriculture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Crop, Soil, and Environmental Sciences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eelli@uark.edu</a:t>
            </a:r>
            <a:endParaRPr lang="en-US" sz="2200" dirty="0">
              <a:solidFill>
                <a:srgbClr val="A51E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2E4E4F-0BCA-642B-D753-87DC51B84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" r="3239"/>
          <a:stretch/>
        </p:blipFill>
        <p:spPr bwMode="auto">
          <a:xfrm>
            <a:off x="7381653" y="10"/>
            <a:ext cx="4810347" cy="6857990"/>
          </a:xfrm>
          <a:custGeom>
            <a:avLst/>
            <a:gdLst/>
            <a:ahLst/>
            <a:cxnLst/>
            <a:rect l="l" t="t" r="r" b="b"/>
            <a:pathLst>
              <a:path w="4817171" h="6858000">
                <a:moveTo>
                  <a:pt x="22751" y="0"/>
                </a:moveTo>
                <a:lnTo>
                  <a:pt x="4817171" y="0"/>
                </a:lnTo>
                <a:lnTo>
                  <a:pt x="4817171" y="6858000"/>
                </a:lnTo>
                <a:lnTo>
                  <a:pt x="0" y="6858000"/>
                </a:lnTo>
                <a:lnTo>
                  <a:pt x="6679" y="6845555"/>
                </a:lnTo>
                <a:cubicBezTo>
                  <a:pt x="496584" y="5886487"/>
                  <a:pt x="786702" y="4695963"/>
                  <a:pt x="786702" y="3406233"/>
                </a:cubicBezTo>
                <a:cubicBezTo>
                  <a:pt x="786702" y="2215714"/>
                  <a:pt x="539501" y="1109724"/>
                  <a:pt x="116147" y="192283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Picture 23" descr="A logo with white text&#10;&#10;Description automatically generated">
            <a:extLst>
              <a:ext uri="{FF2B5EF4-FFF2-40B4-BE49-F238E27FC236}">
                <a16:creationId xmlns:a16="http://schemas.microsoft.com/office/drawing/2014/main" id="{96C7E2D9-0DDC-7044-5932-E50B84582E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"/>
          <a:stretch/>
        </p:blipFill>
        <p:spPr>
          <a:xfrm>
            <a:off x="99352" y="6073007"/>
            <a:ext cx="983813" cy="722867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CF74095-03C4-E03F-F18D-8DEB906B0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76" y="62126"/>
            <a:ext cx="1892778" cy="99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EFDEB80-D752-1C76-B233-AF64F9EEBF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62" b="27167"/>
          <a:stretch>
            <a:fillRect/>
          </a:stretch>
        </p:blipFill>
        <p:spPr bwMode="auto">
          <a:xfrm>
            <a:off x="2204120" y="249095"/>
            <a:ext cx="2606228" cy="65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825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6005E-2ACD-91D9-85EC-87A5BA9C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C6BD5D1-8D3C-5DC2-904E-1380B87C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27" y="965595"/>
            <a:ext cx="8005492" cy="53373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E487F8-0F08-37A3-4680-524A11D7A706}"/>
              </a:ext>
            </a:extLst>
          </p:cNvPr>
          <p:cNvSpPr txBox="1"/>
          <p:nvPr/>
        </p:nvSpPr>
        <p:spPr>
          <a:xfrm>
            <a:off x="119100" y="41492"/>
            <a:ext cx="11060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Adapting Soybeans to drought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8D7D5-57DE-0002-7FB2-0EB0DC389462}"/>
              </a:ext>
            </a:extLst>
          </p:cNvPr>
          <p:cNvSpPr txBox="1"/>
          <p:nvPr/>
        </p:nvSpPr>
        <p:spPr>
          <a:xfrm>
            <a:off x="8198775" y="6487160"/>
            <a:ext cx="3993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Adapted from van Ittersum et al. (2013)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98720D-E63A-7A25-A9A4-1BB8EF2A7A4A}"/>
              </a:ext>
            </a:extLst>
          </p:cNvPr>
          <p:cNvCxnSpPr>
            <a:cxnSpLocks/>
          </p:cNvCxnSpPr>
          <p:nvPr/>
        </p:nvCxnSpPr>
        <p:spPr>
          <a:xfrm flipV="1">
            <a:off x="2722419" y="781396"/>
            <a:ext cx="0" cy="10099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73829A-ED74-3CBE-DB01-6265592F088B}"/>
              </a:ext>
            </a:extLst>
          </p:cNvPr>
          <p:cNvSpPr txBox="1"/>
          <p:nvPr/>
        </p:nvSpPr>
        <p:spPr>
          <a:xfrm>
            <a:off x="2722419" y="1101728"/>
            <a:ext cx="4863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Enhancing yield potential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150B6D-F0BF-FC79-E205-A1F45F9505F2}"/>
              </a:ext>
            </a:extLst>
          </p:cNvPr>
          <p:cNvCxnSpPr>
            <a:cxnSpLocks/>
          </p:cNvCxnSpPr>
          <p:nvPr/>
        </p:nvCxnSpPr>
        <p:spPr>
          <a:xfrm>
            <a:off x="5228706" y="1890937"/>
            <a:ext cx="0" cy="1143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421D5C2-57D5-86A6-6C44-5F129DA11BCE}"/>
              </a:ext>
            </a:extLst>
          </p:cNvPr>
          <p:cNvSpPr txBox="1"/>
          <p:nvPr/>
        </p:nvSpPr>
        <p:spPr>
          <a:xfrm>
            <a:off x="5228707" y="2156541"/>
            <a:ext cx="2861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Optimizing/reducing seasonal water use</a:t>
            </a:r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78F739-B00C-9FFE-9117-CD43C391FBD0}"/>
              </a:ext>
            </a:extLst>
          </p:cNvPr>
          <p:cNvCxnSpPr>
            <a:cxnSpLocks/>
          </p:cNvCxnSpPr>
          <p:nvPr/>
        </p:nvCxnSpPr>
        <p:spPr>
          <a:xfrm>
            <a:off x="2709333" y="1849967"/>
            <a:ext cx="6798734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A92E8B1-D4B8-B1D6-CEE9-7B80F40D968F}"/>
              </a:ext>
            </a:extLst>
          </p:cNvPr>
          <p:cNvGrpSpPr/>
          <p:nvPr/>
        </p:nvGrpSpPr>
        <p:grpSpPr>
          <a:xfrm>
            <a:off x="5649386" y="679424"/>
            <a:ext cx="5025393" cy="923345"/>
            <a:chOff x="6238988" y="372850"/>
            <a:chExt cx="5025393" cy="92334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729F33-D169-0B0F-7C48-1A313C7C4F3B}"/>
                </a:ext>
              </a:extLst>
            </p:cNvPr>
            <p:cNvSpPr txBox="1"/>
            <p:nvPr/>
          </p:nvSpPr>
          <p:spPr>
            <a:xfrm>
              <a:off x="7127179" y="547956"/>
              <a:ext cx="350515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70C0"/>
                  </a:solidFill>
                </a:rPr>
                <a:t>Water use efficiency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1EF542-487F-FB3F-6A04-C42066E57C0D}"/>
                </a:ext>
              </a:extLst>
            </p:cNvPr>
            <p:cNvSpPr/>
            <p:nvPr/>
          </p:nvSpPr>
          <p:spPr>
            <a:xfrm>
              <a:off x="6238988" y="372850"/>
              <a:ext cx="5025393" cy="923345"/>
            </a:xfrm>
            <a:prstGeom prst="ellips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3642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E74FB-54FE-3B95-D089-1D1685B9C9CD}"/>
              </a:ext>
            </a:extLst>
          </p:cNvPr>
          <p:cNvSpPr txBox="1"/>
          <p:nvPr/>
        </p:nvSpPr>
        <p:spPr>
          <a:xfrm>
            <a:off x="241300" y="176556"/>
            <a:ext cx="12082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The limited transpiration (LT) trait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907C2B-80C7-C698-8F55-064CCC865552}"/>
              </a:ext>
            </a:extLst>
          </p:cNvPr>
          <p:cNvGrpSpPr/>
          <p:nvPr/>
        </p:nvGrpSpPr>
        <p:grpSpPr>
          <a:xfrm>
            <a:off x="324181" y="1589963"/>
            <a:ext cx="6369931" cy="4509832"/>
            <a:chOff x="2678275" y="1375954"/>
            <a:chExt cx="6369931" cy="450983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0DA9B6-A4E1-2536-477D-60A6CE27CCB4}"/>
                </a:ext>
              </a:extLst>
            </p:cNvPr>
            <p:cNvCxnSpPr>
              <a:cxnSpLocks/>
            </p:cNvCxnSpPr>
            <p:nvPr/>
          </p:nvCxnSpPr>
          <p:spPr>
            <a:xfrm>
              <a:off x="3329577" y="1600200"/>
              <a:ext cx="0" cy="36576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106E33A-B884-631D-1058-7BD677D919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5223" y="5248366"/>
              <a:ext cx="5486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FD8324C-0E8A-41D8-F9D6-A1F5E11014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5520" y="1798517"/>
              <a:ext cx="4482012" cy="3139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D03492-C416-17B0-688B-C7C6D1D9F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6484" y="3283376"/>
              <a:ext cx="2518229" cy="1725749"/>
            </a:xfrm>
            <a:prstGeom prst="line">
              <a:avLst/>
            </a:prstGeom>
            <a:ln w="38100">
              <a:solidFill>
                <a:srgbClr val="01857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EA1C3A-FA37-EBB6-3556-FFEBAC450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9894" y="3266929"/>
              <a:ext cx="1911531" cy="22495"/>
            </a:xfrm>
            <a:prstGeom prst="line">
              <a:avLst/>
            </a:prstGeom>
            <a:ln w="38100">
              <a:solidFill>
                <a:srgbClr val="01857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7EA07E4-C90F-D7CD-6856-58245DAF95BC}"/>
                </a:ext>
              </a:extLst>
            </p:cNvPr>
            <p:cNvCxnSpPr>
              <a:cxnSpLocks/>
            </p:cNvCxnSpPr>
            <p:nvPr/>
          </p:nvCxnSpPr>
          <p:spPr>
            <a:xfrm>
              <a:off x="8895806" y="5257800"/>
              <a:ext cx="152400" cy="0"/>
            </a:xfrm>
            <a:prstGeom prst="straightConnector1">
              <a:avLst/>
            </a:prstGeom>
            <a:ln w="793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8352589-8CC3-1BEC-7239-B631EE15ED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5223" y="1375954"/>
              <a:ext cx="0" cy="71847"/>
            </a:xfrm>
            <a:prstGeom prst="straightConnector1">
              <a:avLst/>
            </a:prstGeom>
            <a:ln w="793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itle 1">
              <a:extLst>
                <a:ext uri="{FF2B5EF4-FFF2-40B4-BE49-F238E27FC236}">
                  <a16:creationId xmlns:a16="http://schemas.microsoft.com/office/drawing/2014/main" id="{D176F7C2-8007-3D90-4780-704AE0DFA1E3}"/>
                </a:ext>
              </a:extLst>
            </p:cNvPr>
            <p:cNvSpPr txBox="1">
              <a:spLocks/>
            </p:cNvSpPr>
            <p:nvPr/>
          </p:nvSpPr>
          <p:spPr>
            <a:xfrm>
              <a:off x="3325216" y="5259253"/>
              <a:ext cx="5486400" cy="62653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Vapor Pressure Deficit -VPD</a:t>
              </a:r>
            </a:p>
          </p:txBody>
        </p:sp>
        <p:sp>
          <p:nvSpPr>
            <p:cNvPr id="35" name="Title 1">
              <a:extLst>
                <a:ext uri="{FF2B5EF4-FFF2-40B4-BE49-F238E27FC236}">
                  <a16:creationId xmlns:a16="http://schemas.microsoft.com/office/drawing/2014/main" id="{CE5A1897-D672-7859-AC50-6F84866F2210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1162744" y="3115735"/>
              <a:ext cx="3657596" cy="62653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Plant transpiration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80DBD7A-92B2-B2CB-5BB5-5D327FD0A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243" y="2012526"/>
            <a:ext cx="4505104" cy="337264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5BC228D-11CF-08BB-14E6-7908CA49CACB}"/>
              </a:ext>
            </a:extLst>
          </p:cNvPr>
          <p:cNvSpPr txBox="1"/>
          <p:nvPr/>
        </p:nvSpPr>
        <p:spPr>
          <a:xfrm>
            <a:off x="7310671" y="6550639"/>
            <a:ext cx="4777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Yu et al. (2024), Fletcher et al. (2007)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A9DBD2-6D1A-2AA6-1DF4-9048C07330C6}"/>
              </a:ext>
            </a:extLst>
          </p:cNvPr>
          <p:cNvSpPr txBox="1"/>
          <p:nvPr/>
        </p:nvSpPr>
        <p:spPr>
          <a:xfrm>
            <a:off x="4845975" y="6281434"/>
            <a:ext cx="3993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Adapted from van Ittersum et al. (2013)</a:t>
            </a:r>
          </a:p>
        </p:txBody>
      </p:sp>
    </p:spTree>
    <p:extLst>
      <p:ext uri="{BB962C8B-B14F-4D97-AF65-F5344CB8AC3E}">
        <p14:creationId xmlns:p14="http://schemas.microsoft.com/office/powerpoint/2010/main" val="239820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FE6A-C7E9-9385-376E-C35A5BD6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CF8769-6F3A-FA1A-E5EC-073D3F83E51C}"/>
              </a:ext>
            </a:extLst>
          </p:cNvPr>
          <p:cNvSpPr txBox="1"/>
          <p:nvPr/>
        </p:nvSpPr>
        <p:spPr>
          <a:xfrm>
            <a:off x="6544240" y="667256"/>
            <a:ext cx="4790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Limited transpiration trait</a:t>
            </a:r>
            <a:endParaRPr lang="en-US" sz="3600" dirty="0">
              <a:solidFill>
                <a:srgbClr val="0070C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3D9A79-BE0D-B9C7-A819-7FC6A4E3C787}"/>
              </a:ext>
            </a:extLst>
          </p:cNvPr>
          <p:cNvGrpSpPr>
            <a:grpSpLocks/>
          </p:cNvGrpSpPr>
          <p:nvPr/>
        </p:nvGrpSpPr>
        <p:grpSpPr bwMode="auto">
          <a:xfrm>
            <a:off x="294569" y="1239440"/>
            <a:ext cx="5486400" cy="5486400"/>
            <a:chOff x="0" y="2268"/>
            <a:chExt cx="7315200" cy="7315200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AE8D7E6F-583D-A5F3-BC86-04B87DA6F27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0" y="2268"/>
            <a:ext cx="7315200" cy="7315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932C5FBB-94C2-E6E6-421D-52CE494CEA4D}"/>
                </a:ext>
              </a:extLst>
            </p:cNvPr>
            <p:cNvSpPr txBox="1"/>
            <p:nvPr/>
          </p:nvSpPr>
          <p:spPr>
            <a:xfrm>
              <a:off x="760307" y="434068"/>
              <a:ext cx="6394027" cy="368300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0" kern="1200" dirty="0">
                  <a:solidFill>
                    <a:srgbClr val="FF0000"/>
                  </a:solidFill>
                </a:rPr>
                <a:t>VPD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5DBB6A-4881-30AE-6837-D0C2B1A17DF7}"/>
              </a:ext>
            </a:extLst>
          </p:cNvPr>
          <p:cNvGrpSpPr>
            <a:grpSpLocks/>
          </p:cNvGrpSpPr>
          <p:nvPr/>
        </p:nvGrpSpPr>
        <p:grpSpPr bwMode="auto">
          <a:xfrm>
            <a:off x="5996869" y="1237172"/>
            <a:ext cx="5486400" cy="5480050"/>
            <a:chOff x="5702300" y="0"/>
            <a:chExt cx="7315200" cy="7315200"/>
          </a:xfrm>
        </p:grpSpPr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E6121820-34DB-717B-1501-19EA3023D68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02300" y="0"/>
            <a:ext cx="7315200" cy="7315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668525D-8A2F-2AF6-B924-854406D271E9}"/>
                </a:ext>
              </a:extLst>
            </p:cNvPr>
            <p:cNvSpPr txBox="1"/>
            <p:nvPr/>
          </p:nvSpPr>
          <p:spPr>
            <a:xfrm>
              <a:off x="6432127" y="252417"/>
              <a:ext cx="6387253" cy="65777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0" kern="1200" dirty="0">
                  <a:solidFill>
                    <a:srgbClr val="0070C0"/>
                  </a:solidFill>
                </a:rPr>
                <a:t>Transpiration</a:t>
              </a: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A1FF58-3061-C4D9-AB3E-6E0523582D58}"/>
              </a:ext>
            </a:extLst>
          </p:cNvPr>
          <p:cNvCxnSpPr>
            <a:cxnSpLocks/>
          </p:cNvCxnSpPr>
          <p:nvPr/>
        </p:nvCxnSpPr>
        <p:spPr>
          <a:xfrm>
            <a:off x="864799" y="2889306"/>
            <a:ext cx="475488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CF1D94F-7BCF-EC58-12A6-E53DF1C64ACC}"/>
              </a:ext>
            </a:extLst>
          </p:cNvPr>
          <p:cNvSpPr/>
          <p:nvPr/>
        </p:nvSpPr>
        <p:spPr>
          <a:xfrm>
            <a:off x="7997519" y="2267495"/>
            <a:ext cx="1796164" cy="615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C98591-3571-E2EB-E57D-2DBB0420FA20}"/>
              </a:ext>
            </a:extLst>
          </p:cNvPr>
          <p:cNvCxnSpPr>
            <a:cxnSpLocks/>
          </p:cNvCxnSpPr>
          <p:nvPr/>
        </p:nvCxnSpPr>
        <p:spPr>
          <a:xfrm>
            <a:off x="8102529" y="2894386"/>
            <a:ext cx="1645920" cy="0"/>
          </a:xfrm>
          <a:prstGeom prst="line">
            <a:avLst/>
          </a:prstGeom>
          <a:ln w="3810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7B30E9-2F3E-FC80-71B1-7D9BD8BAEF64}"/>
              </a:ext>
            </a:extLst>
          </p:cNvPr>
          <p:cNvSpPr/>
          <p:nvPr/>
        </p:nvSpPr>
        <p:spPr>
          <a:xfrm>
            <a:off x="8116962" y="2478373"/>
            <a:ext cx="1590675" cy="409575"/>
          </a:xfrm>
          <a:custGeom>
            <a:avLst/>
            <a:gdLst>
              <a:gd name="connsiteX0" fmla="*/ 0 w 1590675"/>
              <a:gd name="connsiteY0" fmla="*/ 381000 h 409575"/>
              <a:gd name="connsiteX1" fmla="*/ 195262 w 1590675"/>
              <a:gd name="connsiteY1" fmla="*/ 219075 h 409575"/>
              <a:gd name="connsiteX2" fmla="*/ 423862 w 1590675"/>
              <a:gd name="connsiteY2" fmla="*/ 80962 h 409575"/>
              <a:gd name="connsiteX3" fmla="*/ 614362 w 1590675"/>
              <a:gd name="connsiteY3" fmla="*/ 14287 h 409575"/>
              <a:gd name="connsiteX4" fmla="*/ 804862 w 1590675"/>
              <a:gd name="connsiteY4" fmla="*/ 0 h 409575"/>
              <a:gd name="connsiteX5" fmla="*/ 1081087 w 1590675"/>
              <a:gd name="connsiteY5" fmla="*/ 47625 h 409575"/>
              <a:gd name="connsiteX6" fmla="*/ 1257300 w 1590675"/>
              <a:gd name="connsiteY6" fmla="*/ 147637 h 409575"/>
              <a:gd name="connsiteX7" fmla="*/ 1438275 w 1590675"/>
              <a:gd name="connsiteY7" fmla="*/ 261937 h 409575"/>
              <a:gd name="connsiteX8" fmla="*/ 1590675 w 1590675"/>
              <a:gd name="connsiteY8" fmla="*/ 409575 h 409575"/>
              <a:gd name="connsiteX9" fmla="*/ 0 w 1590675"/>
              <a:gd name="connsiteY9" fmla="*/ 38100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0675" h="409575">
                <a:moveTo>
                  <a:pt x="0" y="381000"/>
                </a:moveTo>
                <a:lnTo>
                  <a:pt x="195262" y="219075"/>
                </a:lnTo>
                <a:lnTo>
                  <a:pt x="423862" y="80962"/>
                </a:lnTo>
                <a:lnTo>
                  <a:pt x="614362" y="14287"/>
                </a:lnTo>
                <a:lnTo>
                  <a:pt x="804862" y="0"/>
                </a:lnTo>
                <a:lnTo>
                  <a:pt x="1081087" y="47625"/>
                </a:lnTo>
                <a:lnTo>
                  <a:pt x="1257300" y="147637"/>
                </a:lnTo>
                <a:lnTo>
                  <a:pt x="1438275" y="261937"/>
                </a:lnTo>
                <a:lnTo>
                  <a:pt x="1590675" y="409575"/>
                </a:lnTo>
                <a:lnTo>
                  <a:pt x="0" y="381000"/>
                </a:lnTo>
                <a:close/>
              </a:path>
            </a:pathLst>
          </a:custGeom>
          <a:solidFill>
            <a:srgbClr val="BDD7E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D17C1-1A10-128F-6F2F-64E1FB812240}"/>
              </a:ext>
            </a:extLst>
          </p:cNvPr>
          <p:cNvSpPr txBox="1"/>
          <p:nvPr/>
        </p:nvSpPr>
        <p:spPr>
          <a:xfrm>
            <a:off x="605123" y="667256"/>
            <a:ext cx="5243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Non-limited transpiration trait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15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BA7E673-0497-050E-08E0-09B6A04D21AF}"/>
              </a:ext>
            </a:extLst>
          </p:cNvPr>
          <p:cNvSpPr txBox="1">
            <a:spLocks/>
          </p:cNvSpPr>
          <p:nvPr/>
        </p:nvSpPr>
        <p:spPr>
          <a:xfrm>
            <a:off x="1695449" y="1416393"/>
            <a:ext cx="10086172" cy="4396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Identify genotypes with the LT trait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Modeling the LT trait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2" name="Picture 4" descr="Objective Icons - Free SVG &amp; PNG Objective Images - Noun Project">
            <a:extLst>
              <a:ext uri="{FF2B5EF4-FFF2-40B4-BE49-F238E27FC236}">
                <a16:creationId xmlns:a16="http://schemas.microsoft.com/office/drawing/2014/main" id="{3A6DEB67-3514-A577-4934-10EA6B1F5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79" y="1289729"/>
            <a:ext cx="1285069" cy="128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Objective Icons - Free SVG &amp; PNG Objective Images - Noun Project">
            <a:extLst>
              <a:ext uri="{FF2B5EF4-FFF2-40B4-BE49-F238E27FC236}">
                <a16:creationId xmlns:a16="http://schemas.microsoft.com/office/drawing/2014/main" id="{7E8DDC46-074A-E698-65C5-43C29741F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78" y="2918097"/>
            <a:ext cx="1285069" cy="128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6ECB285-A4B4-ABE8-D300-C999B8F29DDB}"/>
              </a:ext>
            </a:extLst>
          </p:cNvPr>
          <p:cNvSpPr txBox="1">
            <a:spLocks/>
          </p:cNvSpPr>
          <p:nvPr/>
        </p:nvSpPr>
        <p:spPr>
          <a:xfrm>
            <a:off x="462209" y="131069"/>
            <a:ext cx="7654147" cy="658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A61E36"/>
                </a:solidFill>
                <a:latin typeface="+mn-lt"/>
                <a:ea typeface="+mn-ea"/>
                <a:cs typeface="+mn-cs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62849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water losses&#10;&#10;Description automatically generated">
            <a:extLst>
              <a:ext uri="{FF2B5EF4-FFF2-40B4-BE49-F238E27FC236}">
                <a16:creationId xmlns:a16="http://schemas.microsoft.com/office/drawing/2014/main" id="{8EFD99F8-620C-B401-C300-CC35EA6A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200" y="1631729"/>
            <a:ext cx="4796785" cy="359454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EFFEC6-9068-6A16-200F-09E46080A4F3}"/>
              </a:ext>
            </a:extLst>
          </p:cNvPr>
          <p:cNvCxnSpPr>
            <a:cxnSpLocks/>
          </p:cNvCxnSpPr>
          <p:nvPr/>
        </p:nvCxnSpPr>
        <p:spPr>
          <a:xfrm>
            <a:off x="5239399" y="1560135"/>
            <a:ext cx="1049342" cy="282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E70E8E-637E-4FB6-7661-6162B3A21367}"/>
              </a:ext>
            </a:extLst>
          </p:cNvPr>
          <p:cNvCxnSpPr>
            <a:cxnSpLocks/>
          </p:cNvCxnSpPr>
          <p:nvPr/>
        </p:nvCxnSpPr>
        <p:spPr>
          <a:xfrm flipV="1">
            <a:off x="5239399" y="4961965"/>
            <a:ext cx="1049342" cy="160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oup of plants on a staircase&#10;&#10;AI-generated content may be incorrect.">
            <a:extLst>
              <a:ext uri="{FF2B5EF4-FFF2-40B4-BE49-F238E27FC236}">
                <a16:creationId xmlns:a16="http://schemas.microsoft.com/office/drawing/2014/main" id="{F757AEFA-6B90-5482-2C33-E89434B29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49" r="7961"/>
          <a:stretch>
            <a:fillRect/>
          </a:stretch>
        </p:blipFill>
        <p:spPr>
          <a:xfrm rot="5400000">
            <a:off x="922120" y="804714"/>
            <a:ext cx="3558986" cy="5075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BBD4DC-5FDD-CA7B-DB6A-2B0BE2FE6482}"/>
              </a:ext>
            </a:extLst>
          </p:cNvPr>
          <p:cNvSpPr txBox="1"/>
          <p:nvPr/>
        </p:nvSpPr>
        <p:spPr>
          <a:xfrm>
            <a:off x="102213" y="28708"/>
            <a:ext cx="11987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Material and 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5CA725-6A35-E62F-C5AB-408BDD1EF66B}"/>
              </a:ext>
            </a:extLst>
          </p:cNvPr>
          <p:cNvSpPr txBox="1"/>
          <p:nvPr/>
        </p:nvSpPr>
        <p:spPr>
          <a:xfrm>
            <a:off x="331713" y="5908131"/>
            <a:ext cx="11987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Quantifying transpiration losses across VPD treatments</a:t>
            </a:r>
          </a:p>
        </p:txBody>
      </p:sp>
    </p:spTree>
    <p:extLst>
      <p:ext uri="{BB962C8B-B14F-4D97-AF65-F5344CB8AC3E}">
        <p14:creationId xmlns:p14="http://schemas.microsoft.com/office/powerpoint/2010/main" val="149515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30C75-FA7C-A974-3716-6C3FF290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Single Corner Snipped 39">
            <a:extLst>
              <a:ext uri="{FF2B5EF4-FFF2-40B4-BE49-F238E27FC236}">
                <a16:creationId xmlns:a16="http://schemas.microsoft.com/office/drawing/2014/main" id="{81A765EC-B9D1-3710-7BFD-39B6ED46A5C5}"/>
              </a:ext>
            </a:extLst>
          </p:cNvPr>
          <p:cNvSpPr/>
          <p:nvPr/>
        </p:nvSpPr>
        <p:spPr>
          <a:xfrm>
            <a:off x="1091022" y="643805"/>
            <a:ext cx="10930649" cy="2924148"/>
          </a:xfrm>
          <a:prstGeom prst="snip1Rect">
            <a:avLst/>
          </a:prstGeom>
          <a:solidFill>
            <a:srgbClr val="41B6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2" name="Picture 1" descr="A graph of water losses&#10;&#10;Description automatically generated">
            <a:extLst>
              <a:ext uri="{FF2B5EF4-FFF2-40B4-BE49-F238E27FC236}">
                <a16:creationId xmlns:a16="http://schemas.microsoft.com/office/drawing/2014/main" id="{21A02522-5ED6-9FD0-72A2-C59D5AFA4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284" y="843715"/>
            <a:ext cx="3398536" cy="2546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23E958-65EE-02CF-1A4E-AC9F2E302004}"/>
              </a:ext>
            </a:extLst>
          </p:cNvPr>
          <p:cNvSpPr txBox="1"/>
          <p:nvPr/>
        </p:nvSpPr>
        <p:spPr>
          <a:xfrm>
            <a:off x="57476" y="22167"/>
            <a:ext cx="1198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A61E36"/>
                </a:solidFill>
              </a:rPr>
              <a:t>Material and 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A5C96-D82E-B8F4-47D1-14EF16DAF1FD}"/>
              </a:ext>
            </a:extLst>
          </p:cNvPr>
          <p:cNvSpPr txBox="1"/>
          <p:nvPr/>
        </p:nvSpPr>
        <p:spPr>
          <a:xfrm rot="16200000">
            <a:off x="-906980" y="1844270"/>
            <a:ext cx="2924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A61E36"/>
                </a:solidFill>
              </a:rPr>
              <a:t>Objective 1</a:t>
            </a:r>
          </a:p>
        </p:txBody>
      </p:sp>
      <p:pic>
        <p:nvPicPr>
          <p:cNvPr id="8" name="Picture 7" descr="A group of plants in pots&#10;&#10;Description automatically generated">
            <a:extLst>
              <a:ext uri="{FF2B5EF4-FFF2-40B4-BE49-F238E27FC236}">
                <a16:creationId xmlns:a16="http://schemas.microsoft.com/office/drawing/2014/main" id="{AF2B74DC-C322-2BFD-D193-15BEDB75AC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9"/>
          <a:stretch>
            <a:fillRect/>
          </a:stretch>
        </p:blipFill>
        <p:spPr>
          <a:xfrm>
            <a:off x="1214137" y="682670"/>
            <a:ext cx="1699394" cy="281751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22E920-8B64-694F-A008-3FAAFE55CA0A}"/>
              </a:ext>
            </a:extLst>
          </p:cNvPr>
          <p:cNvCxnSpPr>
            <a:cxnSpLocks/>
          </p:cNvCxnSpPr>
          <p:nvPr/>
        </p:nvCxnSpPr>
        <p:spPr>
          <a:xfrm>
            <a:off x="2912417" y="689204"/>
            <a:ext cx="369867" cy="146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8847B1-B158-F183-289A-44A9D79879F1}"/>
              </a:ext>
            </a:extLst>
          </p:cNvPr>
          <p:cNvCxnSpPr>
            <a:cxnSpLocks/>
          </p:cNvCxnSpPr>
          <p:nvPr/>
        </p:nvCxnSpPr>
        <p:spPr>
          <a:xfrm flipV="1">
            <a:off x="2912417" y="3356738"/>
            <a:ext cx="369867" cy="1476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95F07428-A991-E66F-16C5-13EDCEA31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876" y="959582"/>
            <a:ext cx="4513696" cy="2203456"/>
          </a:xfrm>
          <a:prstGeom prst="rect">
            <a:avLst/>
          </a:prstGeom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602F5118-67BB-146F-7D89-88753348901D}"/>
              </a:ext>
            </a:extLst>
          </p:cNvPr>
          <p:cNvSpPr/>
          <p:nvPr/>
        </p:nvSpPr>
        <p:spPr>
          <a:xfrm>
            <a:off x="6731766" y="1830532"/>
            <a:ext cx="525164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058A11-876F-514E-7D9F-54C39D995428}"/>
              </a:ext>
            </a:extLst>
          </p:cNvPr>
          <p:cNvSpPr txBox="1"/>
          <p:nvPr/>
        </p:nvSpPr>
        <p:spPr>
          <a:xfrm>
            <a:off x="7480245" y="942079"/>
            <a:ext cx="4368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VPD treatments</a:t>
            </a:r>
          </a:p>
        </p:txBody>
      </p:sp>
      <p:sp>
        <p:nvSpPr>
          <p:cNvPr id="45" name="Rectangle: Single Corner Snipped 44">
            <a:extLst>
              <a:ext uri="{FF2B5EF4-FFF2-40B4-BE49-F238E27FC236}">
                <a16:creationId xmlns:a16="http://schemas.microsoft.com/office/drawing/2014/main" id="{7CF4D9E0-0E33-AAE1-1ABF-5D6BE0D27FDF}"/>
              </a:ext>
            </a:extLst>
          </p:cNvPr>
          <p:cNvSpPr/>
          <p:nvPr/>
        </p:nvSpPr>
        <p:spPr>
          <a:xfrm>
            <a:off x="1091022" y="3783665"/>
            <a:ext cx="10930649" cy="2924148"/>
          </a:xfrm>
          <a:prstGeom prst="snip1Rect">
            <a:avLst/>
          </a:prstGeom>
          <a:solidFill>
            <a:srgbClr val="41B6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77850853-67E2-B1B9-A761-BC09C5D515A4}"/>
              </a:ext>
            </a:extLst>
          </p:cNvPr>
          <p:cNvSpPr/>
          <p:nvPr/>
        </p:nvSpPr>
        <p:spPr>
          <a:xfrm>
            <a:off x="3981666" y="4901618"/>
            <a:ext cx="635614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19C11F-E93D-BC80-0F00-38E695AAEA63}"/>
              </a:ext>
            </a:extLst>
          </p:cNvPr>
          <p:cNvSpPr/>
          <p:nvPr/>
        </p:nvSpPr>
        <p:spPr>
          <a:xfrm>
            <a:off x="4689426" y="4950431"/>
            <a:ext cx="1371600" cy="68580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53494"/>
                </a:solidFill>
              </a:rPr>
              <a:t>Carbon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7332C9A-A7A7-DF63-9E79-096754A154B8}"/>
              </a:ext>
            </a:extLst>
          </p:cNvPr>
          <p:cNvSpPr/>
          <p:nvPr/>
        </p:nvSpPr>
        <p:spPr>
          <a:xfrm>
            <a:off x="1214137" y="3883729"/>
            <a:ext cx="2627240" cy="2649069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253494"/>
                </a:solidFill>
              </a:rPr>
              <a:t>Weather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253494"/>
                </a:solidFill>
              </a:rPr>
              <a:t>Soil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253494"/>
                </a:solidFill>
              </a:rPr>
              <a:t>Management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253494"/>
                </a:solidFill>
              </a:rPr>
              <a:t>Genetics/Cultivars</a:t>
            </a:r>
          </a:p>
          <a:p>
            <a:pPr algn="ctr"/>
            <a:endParaRPr lang="en-US" sz="2400" b="1" dirty="0">
              <a:solidFill>
                <a:srgbClr val="253494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8AB601-2869-07FA-D591-23A920913648}"/>
              </a:ext>
            </a:extLst>
          </p:cNvPr>
          <p:cNvSpPr/>
          <p:nvPr/>
        </p:nvSpPr>
        <p:spPr>
          <a:xfrm>
            <a:off x="4679663" y="5781878"/>
            <a:ext cx="1371600" cy="68580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53494"/>
                </a:solidFill>
              </a:rPr>
              <a:t>Nitrogen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A1DB963-2E55-864A-2C68-49291CA52713}"/>
              </a:ext>
            </a:extLst>
          </p:cNvPr>
          <p:cNvSpPr/>
          <p:nvPr/>
        </p:nvSpPr>
        <p:spPr>
          <a:xfrm>
            <a:off x="6140739" y="5781878"/>
            <a:ext cx="1371600" cy="68580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53494"/>
                </a:solidFill>
              </a:rPr>
              <a:t>Crop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FA3F1F-C915-7339-D303-1822A3681DA0}"/>
              </a:ext>
            </a:extLst>
          </p:cNvPr>
          <p:cNvSpPr/>
          <p:nvPr/>
        </p:nvSpPr>
        <p:spPr>
          <a:xfrm>
            <a:off x="4679663" y="3957918"/>
            <a:ext cx="2822253" cy="81826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53494"/>
                </a:solidFill>
              </a:rPr>
              <a:t>SSM model</a:t>
            </a:r>
          </a:p>
          <a:p>
            <a:pPr algn="ctr"/>
            <a:r>
              <a:rPr lang="en-US" b="1" dirty="0">
                <a:solidFill>
                  <a:srgbClr val="253494"/>
                </a:solidFill>
              </a:rPr>
              <a:t>(Soltani and Sinclair, 2012)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D3EFDE-9833-7E5E-6467-9CDD1FA2DE92}"/>
              </a:ext>
            </a:extLst>
          </p:cNvPr>
          <p:cNvSpPr/>
          <p:nvPr/>
        </p:nvSpPr>
        <p:spPr>
          <a:xfrm>
            <a:off x="6108645" y="4950431"/>
            <a:ext cx="1371600" cy="68580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53494"/>
                </a:solidFill>
              </a:rPr>
              <a:t>Water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562F6F7A-E921-EDAA-6734-22E997FC2A1A}"/>
              </a:ext>
            </a:extLst>
          </p:cNvPr>
          <p:cNvSpPr/>
          <p:nvPr/>
        </p:nvSpPr>
        <p:spPr>
          <a:xfrm>
            <a:off x="7646725" y="4901618"/>
            <a:ext cx="635614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E2DA26-CFA5-21D2-6B4F-8D987128746B}"/>
              </a:ext>
            </a:extLst>
          </p:cNvPr>
          <p:cNvSpPr/>
          <p:nvPr/>
        </p:nvSpPr>
        <p:spPr>
          <a:xfrm>
            <a:off x="8448819" y="3883730"/>
            <a:ext cx="2627240" cy="264907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253494"/>
              </a:solidFill>
            </a:endParaRPr>
          </a:p>
        </p:txBody>
      </p:sp>
      <p:pic>
        <p:nvPicPr>
          <p:cNvPr id="57" name="Picture 56" descr="A map of the state of missouri&#10;&#10;AI-generated content may be incorrect.">
            <a:extLst>
              <a:ext uri="{FF2B5EF4-FFF2-40B4-BE49-F238E27FC236}">
                <a16:creationId xmlns:a16="http://schemas.microsoft.com/office/drawing/2014/main" id="{5334FBB4-6D35-0ADB-2403-7472F5C34B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073" y="3942668"/>
            <a:ext cx="2525367" cy="2525367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BB9B481-EB5C-3C88-B0A5-00F88F54C3E6}"/>
              </a:ext>
            </a:extLst>
          </p:cNvPr>
          <p:cNvSpPr txBox="1"/>
          <p:nvPr/>
        </p:nvSpPr>
        <p:spPr>
          <a:xfrm rot="16200000">
            <a:off x="-906981" y="4984130"/>
            <a:ext cx="2924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A61E36"/>
                </a:solidFill>
              </a:rPr>
              <a:t>Objective 2</a:t>
            </a:r>
          </a:p>
        </p:txBody>
      </p:sp>
    </p:spTree>
    <p:extLst>
      <p:ext uri="{BB962C8B-B14F-4D97-AF65-F5344CB8AC3E}">
        <p14:creationId xmlns:p14="http://schemas.microsoft.com/office/powerpoint/2010/main" val="409409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F68C5-6F33-F549-5603-44B3B64B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892DE7-8A08-43D8-BBC7-ACDE4B6A2EE3}"/>
              </a:ext>
            </a:extLst>
          </p:cNvPr>
          <p:cNvSpPr txBox="1">
            <a:spLocks/>
          </p:cNvSpPr>
          <p:nvPr/>
        </p:nvSpPr>
        <p:spPr>
          <a:xfrm>
            <a:off x="1695449" y="1416393"/>
            <a:ext cx="10086172" cy="4396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Identify genotypes with the LT trait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Modeling the LT trait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2" name="Picture 4" descr="Objective Icons - Free SVG &amp; PNG Objective Images - Noun Project">
            <a:extLst>
              <a:ext uri="{FF2B5EF4-FFF2-40B4-BE49-F238E27FC236}">
                <a16:creationId xmlns:a16="http://schemas.microsoft.com/office/drawing/2014/main" id="{685BA349-A9E2-C493-373B-A9836F7DB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79" y="1289729"/>
            <a:ext cx="1285069" cy="128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Objective Icons - Free SVG &amp; PNG Objective Images - Noun Project">
            <a:extLst>
              <a:ext uri="{FF2B5EF4-FFF2-40B4-BE49-F238E27FC236}">
                <a16:creationId xmlns:a16="http://schemas.microsoft.com/office/drawing/2014/main" id="{5561788C-E46C-8FC6-A89E-EDB011C3B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78" y="2918097"/>
            <a:ext cx="1285069" cy="128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C94578E-836B-16BB-500E-4B01D08360C0}"/>
              </a:ext>
            </a:extLst>
          </p:cNvPr>
          <p:cNvSpPr txBox="1">
            <a:spLocks/>
          </p:cNvSpPr>
          <p:nvPr/>
        </p:nvSpPr>
        <p:spPr>
          <a:xfrm>
            <a:off x="462209" y="131069"/>
            <a:ext cx="7654147" cy="658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A61E36"/>
                </a:solidFill>
                <a:latin typeface="+mn-lt"/>
                <a:ea typeface="+mn-ea"/>
                <a:cs typeface="+mn-cs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50917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14DA-9A39-53AA-3A1B-2DC7E94BF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CD92F4E-38E0-762A-FAF0-44483CAA1FC9}"/>
              </a:ext>
            </a:extLst>
          </p:cNvPr>
          <p:cNvSpPr/>
          <p:nvPr/>
        </p:nvSpPr>
        <p:spPr>
          <a:xfrm>
            <a:off x="9459310" y="5121017"/>
            <a:ext cx="405399" cy="171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C6E43-91B0-085A-E290-154CE90B473F}"/>
              </a:ext>
            </a:extLst>
          </p:cNvPr>
          <p:cNvSpPr txBox="1"/>
          <p:nvPr/>
        </p:nvSpPr>
        <p:spPr>
          <a:xfrm>
            <a:off x="448255" y="215543"/>
            <a:ext cx="11987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Diverging responses in soybean transpiration response</a:t>
            </a:r>
          </a:p>
        </p:txBody>
      </p:sp>
      <p:pic>
        <p:nvPicPr>
          <p:cNvPr id="2" name="Picture 1" descr="A graph of a graph showing the difference between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418B94D5-DDC9-DA33-BD27-DAB9F8814E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0"/>
          <a:stretch/>
        </p:blipFill>
        <p:spPr>
          <a:xfrm>
            <a:off x="448255" y="1107435"/>
            <a:ext cx="11080285" cy="43611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2D7438-37B3-8299-E4E9-28C1F2B74ABF}"/>
              </a:ext>
            </a:extLst>
          </p:cNvPr>
          <p:cNvSpPr txBox="1"/>
          <p:nvPr/>
        </p:nvSpPr>
        <p:spPr>
          <a:xfrm>
            <a:off x="9707517" y="6488668"/>
            <a:ext cx="2484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/>
              <a:t>Preliminary results</a:t>
            </a:r>
          </a:p>
        </p:txBody>
      </p:sp>
    </p:spTree>
    <p:extLst>
      <p:ext uri="{BB962C8B-B14F-4D97-AF65-F5344CB8AC3E}">
        <p14:creationId xmlns:p14="http://schemas.microsoft.com/office/powerpoint/2010/main" val="2873143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3B73-BDD7-5F33-6AE7-1BBA400C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53B5BCC-A88E-750C-1F17-57C007E180B6}"/>
              </a:ext>
            </a:extLst>
          </p:cNvPr>
          <p:cNvSpPr txBox="1">
            <a:spLocks/>
          </p:cNvSpPr>
          <p:nvPr/>
        </p:nvSpPr>
        <p:spPr>
          <a:xfrm>
            <a:off x="1695449" y="1416393"/>
            <a:ext cx="10086172" cy="4396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genotypes with the LT trait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Modeling the LT trait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2" name="Picture 4" descr="Objective Icons - Free SVG &amp; PNG Objective Images - Noun Project">
            <a:extLst>
              <a:ext uri="{FF2B5EF4-FFF2-40B4-BE49-F238E27FC236}">
                <a16:creationId xmlns:a16="http://schemas.microsoft.com/office/drawing/2014/main" id="{22874939-9412-0BF0-5515-49749A707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79" y="1289729"/>
            <a:ext cx="1285069" cy="128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Objective Icons - Free SVG &amp; PNG Objective Images - Noun Project">
            <a:extLst>
              <a:ext uri="{FF2B5EF4-FFF2-40B4-BE49-F238E27FC236}">
                <a16:creationId xmlns:a16="http://schemas.microsoft.com/office/drawing/2014/main" id="{569BC506-753B-A257-FF13-450797DFA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78" y="2918097"/>
            <a:ext cx="1285069" cy="128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78FA648-4ED1-6776-5EEF-7190D3A0004C}"/>
              </a:ext>
            </a:extLst>
          </p:cNvPr>
          <p:cNvSpPr txBox="1">
            <a:spLocks/>
          </p:cNvSpPr>
          <p:nvPr/>
        </p:nvSpPr>
        <p:spPr>
          <a:xfrm>
            <a:off x="462209" y="131069"/>
            <a:ext cx="7654147" cy="658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A61E36"/>
                </a:solidFill>
                <a:latin typeface="+mn-lt"/>
                <a:ea typeface="+mn-ea"/>
                <a:cs typeface="+mn-cs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275440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A7E41-F0D0-3930-7E21-9421CFB93036}"/>
              </a:ext>
            </a:extLst>
          </p:cNvPr>
          <p:cNvSpPr txBox="1"/>
          <p:nvPr/>
        </p:nvSpPr>
        <p:spPr>
          <a:xfrm>
            <a:off x="448255" y="127994"/>
            <a:ext cx="11987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Yield advantage in dry years with the LT trait</a:t>
            </a:r>
          </a:p>
        </p:txBody>
      </p:sp>
      <p:pic>
        <p:nvPicPr>
          <p:cNvPr id="4" name="Picture 3" descr="A graph of different types of transpiration&#10;&#10;AI-generated content may be incorrect.">
            <a:extLst>
              <a:ext uri="{FF2B5EF4-FFF2-40B4-BE49-F238E27FC236}">
                <a16:creationId xmlns:a16="http://schemas.microsoft.com/office/drawing/2014/main" id="{970A321C-5944-4253-97AA-BC7C363A7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848" y="977904"/>
            <a:ext cx="7199376" cy="5399532"/>
          </a:xfrm>
          <a:prstGeom prst="rect">
            <a:avLst/>
          </a:prstGeom>
        </p:spPr>
      </p:pic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3529FF6D-4560-B846-7F98-952FC1526600}"/>
              </a:ext>
            </a:extLst>
          </p:cNvPr>
          <p:cNvSpPr/>
          <p:nvPr/>
        </p:nvSpPr>
        <p:spPr>
          <a:xfrm rot="20962683">
            <a:off x="4118135" y="3005400"/>
            <a:ext cx="684139" cy="35524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2F677B40-017F-8410-6737-739AD54A68A5}"/>
              </a:ext>
            </a:extLst>
          </p:cNvPr>
          <p:cNvSpPr/>
          <p:nvPr/>
        </p:nvSpPr>
        <p:spPr>
          <a:xfrm rot="20962683">
            <a:off x="6122880" y="2413730"/>
            <a:ext cx="684139" cy="35524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60E9B-A28C-6A17-B204-16768A20D37D}"/>
              </a:ext>
            </a:extLst>
          </p:cNvPr>
          <p:cNvSpPr txBox="1"/>
          <p:nvPr/>
        </p:nvSpPr>
        <p:spPr>
          <a:xfrm>
            <a:off x="4020090" y="2628157"/>
            <a:ext cx="809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+11%</a:t>
            </a:r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DEEFDB1C-B41F-1F8F-C7C3-3271CD45C60D}"/>
              </a:ext>
            </a:extLst>
          </p:cNvPr>
          <p:cNvSpPr/>
          <p:nvPr/>
        </p:nvSpPr>
        <p:spPr>
          <a:xfrm rot="21239676">
            <a:off x="8054774" y="1938467"/>
            <a:ext cx="684139" cy="35524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0013B1-7C0B-F7DC-8B91-A61A93B795CE}"/>
              </a:ext>
            </a:extLst>
          </p:cNvPr>
          <p:cNvSpPr txBox="1"/>
          <p:nvPr/>
        </p:nvSpPr>
        <p:spPr>
          <a:xfrm>
            <a:off x="5907161" y="2036487"/>
            <a:ext cx="809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+6%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BF509D-6D9B-1B26-30BE-F34E9A5C7829}"/>
              </a:ext>
            </a:extLst>
          </p:cNvPr>
          <p:cNvSpPr txBox="1"/>
          <p:nvPr/>
        </p:nvSpPr>
        <p:spPr>
          <a:xfrm>
            <a:off x="7520808" y="1931422"/>
            <a:ext cx="809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+2%</a:t>
            </a:r>
          </a:p>
        </p:txBody>
      </p:sp>
    </p:spTree>
    <p:extLst>
      <p:ext uri="{BB962C8B-B14F-4D97-AF65-F5344CB8AC3E}">
        <p14:creationId xmlns:p14="http://schemas.microsoft.com/office/powerpoint/2010/main" val="1286581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different types of transpiration&#10;&#10;AI-generated content may be incorrect.">
            <a:extLst>
              <a:ext uri="{FF2B5EF4-FFF2-40B4-BE49-F238E27FC236}">
                <a16:creationId xmlns:a16="http://schemas.microsoft.com/office/drawing/2014/main" id="{25FD9609-B079-4CDC-BBE1-A8171820B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312" y="917492"/>
            <a:ext cx="7199376" cy="53995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9E39CF-6B7C-64A0-D3B4-1F3F9C1D6D0B}"/>
              </a:ext>
            </a:extLst>
          </p:cNvPr>
          <p:cNvSpPr txBox="1"/>
          <p:nvPr/>
        </p:nvSpPr>
        <p:spPr>
          <a:xfrm>
            <a:off x="204427" y="110112"/>
            <a:ext cx="11987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Optimized seasonal water use with the LT trait</a:t>
            </a:r>
          </a:p>
        </p:txBody>
      </p:sp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0649AEBE-4A88-8242-B081-7CB4930B4CE8}"/>
              </a:ext>
            </a:extLst>
          </p:cNvPr>
          <p:cNvSpPr/>
          <p:nvPr/>
        </p:nvSpPr>
        <p:spPr>
          <a:xfrm rot="799608">
            <a:off x="4937000" y="1954522"/>
            <a:ext cx="684139" cy="35524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2F6FC-BC02-09E0-0907-AA9BB2C57FC4}"/>
              </a:ext>
            </a:extLst>
          </p:cNvPr>
          <p:cNvSpPr txBox="1"/>
          <p:nvPr/>
        </p:nvSpPr>
        <p:spPr>
          <a:xfrm>
            <a:off x="5549510" y="1947477"/>
            <a:ext cx="809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-4%</a:t>
            </a: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8F470EB1-A2AF-D849-32BE-8958722067AE}"/>
              </a:ext>
            </a:extLst>
          </p:cNvPr>
          <p:cNvSpPr/>
          <p:nvPr/>
        </p:nvSpPr>
        <p:spPr>
          <a:xfrm rot="21084946">
            <a:off x="7787776" y="3363437"/>
            <a:ext cx="684139" cy="35524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6F47E0-07CC-B85A-6BDB-D238BA2396EF}"/>
              </a:ext>
            </a:extLst>
          </p:cNvPr>
          <p:cNvSpPr txBox="1"/>
          <p:nvPr/>
        </p:nvSpPr>
        <p:spPr>
          <a:xfrm rot="20553862">
            <a:off x="6931523" y="2849214"/>
            <a:ext cx="2816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9% (3 to 15% across sites)</a:t>
            </a:r>
          </a:p>
        </p:txBody>
      </p:sp>
    </p:spTree>
    <p:extLst>
      <p:ext uri="{BB962C8B-B14F-4D97-AF65-F5344CB8AC3E}">
        <p14:creationId xmlns:p14="http://schemas.microsoft.com/office/powerpoint/2010/main" val="1741149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7A42-0E99-6C44-FE8D-5944A058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F311CC-B8DD-E0AF-BAD0-1C34D879A58E}"/>
              </a:ext>
            </a:extLst>
          </p:cNvPr>
          <p:cNvSpPr txBox="1"/>
          <p:nvPr/>
        </p:nvSpPr>
        <p:spPr>
          <a:xfrm>
            <a:off x="443773" y="139664"/>
            <a:ext cx="11987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Changing patterns in water demand with the LT trait</a:t>
            </a:r>
          </a:p>
        </p:txBody>
      </p:sp>
      <p:pic>
        <p:nvPicPr>
          <p:cNvPr id="4" name="Picture 3" descr="A graph showing different types of water&#10;&#10;AI-generated content may be incorrect.">
            <a:extLst>
              <a:ext uri="{FF2B5EF4-FFF2-40B4-BE49-F238E27FC236}">
                <a16:creationId xmlns:a16="http://schemas.microsoft.com/office/drawing/2014/main" id="{4F1FD2EA-A1CA-2839-9A4E-2D64E1CB4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089" y="831641"/>
            <a:ext cx="5680881" cy="568088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FE83241-2D94-DCC9-C1D0-2BDC59A3E0B5}"/>
              </a:ext>
            </a:extLst>
          </p:cNvPr>
          <p:cNvSpPr txBox="1">
            <a:spLocks/>
          </p:cNvSpPr>
          <p:nvPr/>
        </p:nvSpPr>
        <p:spPr>
          <a:xfrm>
            <a:off x="4868954" y="1895836"/>
            <a:ext cx="3239622" cy="461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+mn-lt"/>
                <a:cs typeface="Calibri" panose="020F0502020204030204" pitchFamily="34" charset="0"/>
              </a:rPr>
              <a:t>Slope = 29 mm/</a:t>
            </a:r>
            <a:r>
              <a:rPr lang="en-US" sz="2000" dirty="0">
                <a:latin typeface="+mn-lt"/>
              </a:rPr>
              <a:t>°C (1.8%</a:t>
            </a:r>
            <a:r>
              <a:rPr lang="en-US" sz="2000" dirty="0">
                <a:cs typeface="Calibri" panose="020F0502020204030204" pitchFamily="34" charset="0"/>
              </a:rPr>
              <a:t>/</a:t>
            </a:r>
            <a:r>
              <a:rPr lang="en-US" sz="2000" dirty="0"/>
              <a:t>°C)</a:t>
            </a:r>
            <a:endParaRPr lang="en-US" sz="2000" dirty="0">
              <a:latin typeface="+mn-lt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D9990E7-11C1-F755-B74C-FF2440E50CF5}"/>
              </a:ext>
            </a:extLst>
          </p:cNvPr>
          <p:cNvSpPr txBox="1">
            <a:spLocks/>
          </p:cNvSpPr>
          <p:nvPr/>
        </p:nvSpPr>
        <p:spPr>
          <a:xfrm>
            <a:off x="5039283" y="5048067"/>
            <a:ext cx="3149975" cy="461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+mn-lt"/>
                <a:cs typeface="Calibri" panose="020F0502020204030204" pitchFamily="34" charset="0"/>
              </a:rPr>
              <a:t>Slope = 14 mm/</a:t>
            </a:r>
            <a:r>
              <a:rPr lang="en-US" sz="2000" dirty="0">
                <a:latin typeface="+mn-lt"/>
              </a:rPr>
              <a:t>°C (1.3%</a:t>
            </a:r>
            <a:r>
              <a:rPr lang="en-US" sz="2000" dirty="0">
                <a:cs typeface="Calibri" panose="020F0502020204030204" pitchFamily="34" charset="0"/>
              </a:rPr>
              <a:t>/</a:t>
            </a:r>
            <a:r>
              <a:rPr lang="en-US" sz="2000" dirty="0"/>
              <a:t>°C)</a:t>
            </a:r>
            <a:endParaRPr lang="en-US" sz="2000" dirty="0">
              <a:latin typeface="+mn-lt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B269A8-A781-A76E-1346-C57905D2AC81}"/>
              </a:ext>
            </a:extLst>
          </p:cNvPr>
          <p:cNvCxnSpPr>
            <a:cxnSpLocks/>
          </p:cNvCxnSpPr>
          <p:nvPr/>
        </p:nvCxnSpPr>
        <p:spPr>
          <a:xfrm>
            <a:off x="6239435" y="2268014"/>
            <a:ext cx="327212" cy="10220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E9C51C-2531-2537-E032-1E409B71E497}"/>
              </a:ext>
            </a:extLst>
          </p:cNvPr>
          <p:cNvCxnSpPr>
            <a:cxnSpLocks/>
          </p:cNvCxnSpPr>
          <p:nvPr/>
        </p:nvCxnSpPr>
        <p:spPr>
          <a:xfrm flipH="1" flipV="1">
            <a:off x="5952565" y="4164106"/>
            <a:ext cx="221318" cy="9432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648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0CB3-5297-A1CA-8DED-09F52C67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90AB750-F973-DE08-AD70-DE6E4301CBA7}"/>
              </a:ext>
            </a:extLst>
          </p:cNvPr>
          <p:cNvSpPr txBox="1">
            <a:spLocks/>
          </p:cNvSpPr>
          <p:nvPr/>
        </p:nvSpPr>
        <p:spPr>
          <a:xfrm>
            <a:off x="1695449" y="1416393"/>
            <a:ext cx="10086172" cy="4396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Identify genotypes with the LT trait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Modeling the LT trait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2" name="Picture 4" descr="Objective Icons - Free SVG &amp; PNG Objective Images - Noun Project">
            <a:extLst>
              <a:ext uri="{FF2B5EF4-FFF2-40B4-BE49-F238E27FC236}">
                <a16:creationId xmlns:a16="http://schemas.microsoft.com/office/drawing/2014/main" id="{92DD70E0-1593-8A29-A075-DD099F09D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79" y="1289729"/>
            <a:ext cx="1285069" cy="128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Objective Icons - Free SVG &amp; PNG Objective Images - Noun Project">
            <a:extLst>
              <a:ext uri="{FF2B5EF4-FFF2-40B4-BE49-F238E27FC236}">
                <a16:creationId xmlns:a16="http://schemas.microsoft.com/office/drawing/2014/main" id="{9DA864F1-0D4F-9835-5BAE-2864E1983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78" y="2918097"/>
            <a:ext cx="1285069" cy="128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A582CA-A92A-C5B2-72C5-4EEB0E7520E6}"/>
              </a:ext>
            </a:extLst>
          </p:cNvPr>
          <p:cNvSpPr txBox="1">
            <a:spLocks/>
          </p:cNvSpPr>
          <p:nvPr/>
        </p:nvSpPr>
        <p:spPr>
          <a:xfrm>
            <a:off x="462209" y="131069"/>
            <a:ext cx="7654147" cy="658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A61E36"/>
                </a:solidFill>
                <a:latin typeface="+mn-lt"/>
                <a:ea typeface="+mn-ea"/>
                <a:cs typeface="+mn-cs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66297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standing in a field&#10;&#10;AI-generated content may be incorrect.">
            <a:extLst>
              <a:ext uri="{FF2B5EF4-FFF2-40B4-BE49-F238E27FC236}">
                <a16:creationId xmlns:a16="http://schemas.microsoft.com/office/drawing/2014/main" id="{ED9DF95C-BC21-B98D-BDBD-AB17005B2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28"/>
            <a:ext cx="10233212" cy="682546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A52D917-AAC8-AA32-D1AA-4EB0534BB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832" y="2850645"/>
            <a:ext cx="1903276" cy="124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8707FEA-A6BF-D0A5-1A5E-2A0BC1E89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868" y="1800346"/>
            <a:ext cx="1903276" cy="100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327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rochure&#10;&#10;AI-generated content may be incorrect.">
            <a:extLst>
              <a:ext uri="{FF2B5EF4-FFF2-40B4-BE49-F238E27FC236}">
                <a16:creationId xmlns:a16="http://schemas.microsoft.com/office/drawing/2014/main" id="{A87C4962-7692-773F-0C90-7E96C1F8E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8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68EC-CEA5-1B09-2569-92578F5A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A49DA7-E7A4-4606-6D1B-CBFF57E7F265}"/>
              </a:ext>
            </a:extLst>
          </p:cNvPr>
          <p:cNvSpPr txBox="1">
            <a:spLocks/>
          </p:cNvSpPr>
          <p:nvPr/>
        </p:nvSpPr>
        <p:spPr>
          <a:xfrm>
            <a:off x="1" y="6021971"/>
            <a:ext cx="12191999" cy="836019"/>
          </a:xfrm>
          <a:prstGeom prst="rect">
            <a:avLst/>
          </a:prstGeom>
          <a:solidFill>
            <a:srgbClr val="9C213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FF587A-F39C-E3D2-5DB1-FCFC2FDFDEDB}"/>
              </a:ext>
            </a:extLst>
          </p:cNvPr>
          <p:cNvCxnSpPr>
            <a:cxnSpLocks/>
          </p:cNvCxnSpPr>
          <p:nvPr/>
        </p:nvCxnSpPr>
        <p:spPr>
          <a:xfrm>
            <a:off x="0" y="3227161"/>
            <a:ext cx="7650480" cy="0"/>
          </a:xfrm>
          <a:prstGeom prst="line">
            <a:avLst/>
          </a:prstGeom>
          <a:ln w="38100">
            <a:solidFill>
              <a:srgbClr val="9C2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C9358834-D24F-AF02-0591-A399BC58EA1E}"/>
              </a:ext>
            </a:extLst>
          </p:cNvPr>
          <p:cNvSpPr txBox="1">
            <a:spLocks/>
          </p:cNvSpPr>
          <p:nvPr/>
        </p:nvSpPr>
        <p:spPr>
          <a:xfrm>
            <a:off x="136776" y="3429000"/>
            <a:ext cx="6877110" cy="1698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Elvis Elli</a:t>
            </a:r>
            <a:endParaRPr lang="en-US" sz="2400" dirty="0">
              <a:solidFill>
                <a:srgbClr val="A51E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Assistant Professor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Arkansas System Division of Agriculture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Crop, Soil, and Environmental Sciences</a:t>
            </a:r>
          </a:p>
          <a:p>
            <a:r>
              <a:rPr lang="en-US" sz="2200" dirty="0">
                <a:solidFill>
                  <a:srgbClr val="A51E36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eelli@uark.edu</a:t>
            </a:r>
            <a:endParaRPr lang="en-US" sz="2200" dirty="0">
              <a:solidFill>
                <a:srgbClr val="A51E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FA41F-7C6A-78A0-52AD-82ADEB2FE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" r="3239"/>
          <a:stretch/>
        </p:blipFill>
        <p:spPr bwMode="auto">
          <a:xfrm>
            <a:off x="7381653" y="10"/>
            <a:ext cx="4810347" cy="6857990"/>
          </a:xfrm>
          <a:custGeom>
            <a:avLst/>
            <a:gdLst/>
            <a:ahLst/>
            <a:cxnLst/>
            <a:rect l="l" t="t" r="r" b="b"/>
            <a:pathLst>
              <a:path w="4817171" h="6858000">
                <a:moveTo>
                  <a:pt x="22751" y="0"/>
                </a:moveTo>
                <a:lnTo>
                  <a:pt x="4817171" y="0"/>
                </a:lnTo>
                <a:lnTo>
                  <a:pt x="4817171" y="6858000"/>
                </a:lnTo>
                <a:lnTo>
                  <a:pt x="0" y="6858000"/>
                </a:lnTo>
                <a:lnTo>
                  <a:pt x="6679" y="6845555"/>
                </a:lnTo>
                <a:cubicBezTo>
                  <a:pt x="496584" y="5886487"/>
                  <a:pt x="786702" y="4695963"/>
                  <a:pt x="786702" y="3406233"/>
                </a:cubicBezTo>
                <a:cubicBezTo>
                  <a:pt x="786702" y="2215714"/>
                  <a:pt x="539501" y="1109724"/>
                  <a:pt x="116147" y="192283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Picture 23" descr="A logo with white text&#10;&#10;Description automatically generated">
            <a:extLst>
              <a:ext uri="{FF2B5EF4-FFF2-40B4-BE49-F238E27FC236}">
                <a16:creationId xmlns:a16="http://schemas.microsoft.com/office/drawing/2014/main" id="{5823EE3D-ECEE-CD7C-1AF6-60494C25E6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"/>
          <a:stretch/>
        </p:blipFill>
        <p:spPr>
          <a:xfrm>
            <a:off x="91952" y="6029163"/>
            <a:ext cx="983813" cy="7228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126F39-0395-EE3F-E298-3FA3F69A7296}"/>
              </a:ext>
            </a:extLst>
          </p:cNvPr>
          <p:cNvSpPr txBox="1">
            <a:spLocks/>
          </p:cNvSpPr>
          <p:nvPr/>
        </p:nvSpPr>
        <p:spPr>
          <a:xfrm>
            <a:off x="83381" y="244698"/>
            <a:ext cx="7483718" cy="612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Thank you!!!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B577A29-41FA-C2BD-CA16-E575C37263A2}"/>
              </a:ext>
            </a:extLst>
          </p:cNvPr>
          <p:cNvSpPr txBox="1">
            <a:spLocks/>
          </p:cNvSpPr>
          <p:nvPr/>
        </p:nvSpPr>
        <p:spPr>
          <a:xfrm>
            <a:off x="0" y="1803166"/>
            <a:ext cx="8122596" cy="14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9C21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Modeling crop physiological strategies to alleviate soybean drought stress in the US-Midsouth</a:t>
            </a:r>
          </a:p>
        </p:txBody>
      </p:sp>
    </p:spTree>
    <p:extLst>
      <p:ext uri="{BB962C8B-B14F-4D97-AF65-F5344CB8AC3E}">
        <p14:creationId xmlns:p14="http://schemas.microsoft.com/office/powerpoint/2010/main" val="406404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D67E-94ED-AFBF-FF0A-1545386A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735056-56AF-081D-248B-348BBB26A635}"/>
              </a:ext>
            </a:extLst>
          </p:cNvPr>
          <p:cNvSpPr/>
          <p:nvPr/>
        </p:nvSpPr>
        <p:spPr>
          <a:xfrm>
            <a:off x="1021080" y="731713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6B093-55E4-711F-9D1B-E26E3CDCE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99" y="1253165"/>
            <a:ext cx="11901401" cy="45456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6A6EF8-0717-BE06-B529-E174DA438EF6}"/>
              </a:ext>
            </a:extLst>
          </p:cNvPr>
          <p:cNvSpPr txBox="1"/>
          <p:nvPr/>
        </p:nvSpPr>
        <p:spPr>
          <a:xfrm>
            <a:off x="9097433" y="6480877"/>
            <a:ext cx="3094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Preliminary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E741F-52E2-C12D-D5CD-A7C21A83275A}"/>
              </a:ext>
            </a:extLst>
          </p:cNvPr>
          <p:cNvSpPr txBox="1"/>
          <p:nvPr/>
        </p:nvSpPr>
        <p:spPr>
          <a:xfrm>
            <a:off x="311726" y="69346"/>
            <a:ext cx="12082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APSIM - Agricultural Production Systems Simulator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70349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D88B3-708D-02C2-F8B0-1F3717F5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53B613CD-76F3-E26F-74C0-0638C4A439CD}"/>
              </a:ext>
            </a:extLst>
          </p:cNvPr>
          <p:cNvSpPr/>
          <p:nvPr/>
        </p:nvSpPr>
        <p:spPr>
          <a:xfrm>
            <a:off x="4408498" y="964276"/>
            <a:ext cx="3374968" cy="5432368"/>
          </a:xfrm>
          <a:prstGeom prst="snip1Rect">
            <a:avLst/>
          </a:prstGeom>
          <a:solidFill>
            <a:srgbClr val="41B6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114DAF-241D-53B9-4D0A-98591FAE9472}"/>
              </a:ext>
            </a:extLst>
          </p:cNvPr>
          <p:cNvSpPr/>
          <p:nvPr/>
        </p:nvSpPr>
        <p:spPr>
          <a:xfrm>
            <a:off x="1021080" y="731713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529DE-B8E8-FC4D-40FD-4A9B61148D8E}"/>
              </a:ext>
            </a:extLst>
          </p:cNvPr>
          <p:cNvSpPr txBox="1"/>
          <p:nvPr/>
        </p:nvSpPr>
        <p:spPr>
          <a:xfrm>
            <a:off x="311727" y="69346"/>
            <a:ext cx="11880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APSIM - Agricultural Production Systems Simulator</a:t>
            </a:r>
            <a:endParaRPr lang="en-US" sz="3600" dirty="0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0A1FA6D-2C46-CBC8-C15F-5BE7F2A08B98}"/>
              </a:ext>
            </a:extLst>
          </p:cNvPr>
          <p:cNvSpPr/>
          <p:nvPr/>
        </p:nvSpPr>
        <p:spPr>
          <a:xfrm>
            <a:off x="448887" y="931024"/>
            <a:ext cx="3374968" cy="5465619"/>
          </a:xfrm>
          <a:prstGeom prst="snip1Rect">
            <a:avLst/>
          </a:prstGeom>
          <a:solidFill>
            <a:srgbClr val="41B6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253494"/>
                </a:solidFill>
              </a:rPr>
              <a:t>Weather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- </a:t>
            </a:r>
            <a:r>
              <a:rPr lang="en-US" dirty="0">
                <a:solidFill>
                  <a:schemeClr val="tx1"/>
                </a:solidFill>
              </a:rPr>
              <a:t>Daily max/min temperature, rain, solar radiation 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253494"/>
                </a:solidFill>
              </a:rPr>
              <a:t>Soil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- Soil organic carbon, hydrological parameters, initial conditions, crop residue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253494"/>
                </a:solidFill>
              </a:rPr>
              <a:t>Management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- Planting date, plant density, tillage type/date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253494"/>
                </a:solidFill>
              </a:rPr>
              <a:t>Genetics/Cultivars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- Phenology, RUE, seed growth, N uptake</a:t>
            </a:r>
          </a:p>
          <a:p>
            <a:pPr marL="457200" indent="-457200">
              <a:buFontTx/>
              <a:buChar char="-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1D285D6-612E-6286-4674-BC32647D6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397" y="1274920"/>
            <a:ext cx="2815406" cy="119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3BAC03E6-10B9-B319-15B8-1B856FE2A6FD}"/>
              </a:ext>
            </a:extLst>
          </p:cNvPr>
          <p:cNvSpPr/>
          <p:nvPr/>
        </p:nvSpPr>
        <p:spPr>
          <a:xfrm>
            <a:off x="8351523" y="935318"/>
            <a:ext cx="3374968" cy="5432368"/>
          </a:xfrm>
          <a:prstGeom prst="snip1Rect">
            <a:avLst/>
          </a:prstGeom>
          <a:solidFill>
            <a:srgbClr val="41B6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en-US" sz="2800" b="1" dirty="0">
              <a:solidFill>
                <a:srgbClr val="253494"/>
              </a:solidFill>
            </a:endParaRPr>
          </a:p>
          <a:p>
            <a:pPr>
              <a:spcAft>
                <a:spcPts val="600"/>
              </a:spcAft>
            </a:pPr>
            <a:endParaRPr lang="en-US" sz="2800" b="1" dirty="0">
              <a:solidFill>
                <a:srgbClr val="253494"/>
              </a:solidFill>
            </a:endParaRPr>
          </a:p>
          <a:p>
            <a:pPr>
              <a:spcAft>
                <a:spcPts val="600"/>
              </a:spcAft>
            </a:pPr>
            <a:endParaRPr lang="en-US" sz="2800" b="1" dirty="0">
              <a:solidFill>
                <a:srgbClr val="253494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253494"/>
                </a:solidFill>
              </a:rPr>
              <a:t>Regional simulations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~5km resolution,  1300 fields in AR, 30 weather-years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253494"/>
                </a:solidFill>
              </a:rPr>
              <a:t>Scenarios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- Climate Change (2°C increase), longer cycle, early sowing, longer seed-filling period, and combinations</a:t>
            </a:r>
            <a:endParaRPr lang="en-US" b="1" dirty="0">
              <a:solidFill>
                <a:srgbClr val="253494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253494"/>
                </a:solidFill>
              </a:rPr>
              <a:t>Outputs</a:t>
            </a:r>
          </a:p>
          <a:p>
            <a:pPr>
              <a:spcAft>
                <a:spcPts val="200"/>
              </a:spcAft>
            </a:pPr>
            <a:r>
              <a:rPr lang="en-US" dirty="0">
                <a:solidFill>
                  <a:schemeClr val="tx1"/>
                </a:solidFill>
              </a:rPr>
              <a:t>- Seed Yields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BCD97B-B757-6CAC-5A3D-5C131A41295A}"/>
              </a:ext>
            </a:extLst>
          </p:cNvPr>
          <p:cNvCxnSpPr>
            <a:cxnSpLocks/>
          </p:cNvCxnSpPr>
          <p:nvPr/>
        </p:nvCxnSpPr>
        <p:spPr>
          <a:xfrm>
            <a:off x="3659793" y="1646113"/>
            <a:ext cx="995334" cy="0"/>
          </a:xfrm>
          <a:prstGeom prst="straightConnector1">
            <a:avLst/>
          </a:prstGeom>
          <a:ln w="762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9F0792-A617-E7F7-F53F-38986D4F579A}"/>
              </a:ext>
            </a:extLst>
          </p:cNvPr>
          <p:cNvCxnSpPr>
            <a:cxnSpLocks/>
          </p:cNvCxnSpPr>
          <p:nvPr/>
        </p:nvCxnSpPr>
        <p:spPr>
          <a:xfrm>
            <a:off x="7623580" y="1646113"/>
            <a:ext cx="995334" cy="0"/>
          </a:xfrm>
          <a:prstGeom prst="straightConnector1">
            <a:avLst/>
          </a:prstGeom>
          <a:ln w="762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E43496B-3EB6-5E33-14B9-C510884C9561}"/>
              </a:ext>
            </a:extLst>
          </p:cNvPr>
          <p:cNvSpPr/>
          <p:nvPr/>
        </p:nvSpPr>
        <p:spPr>
          <a:xfrm>
            <a:off x="4690334" y="2767437"/>
            <a:ext cx="1371600" cy="68580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53494"/>
                </a:solidFill>
              </a:rPr>
              <a:t>Carbon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A87B8D-C5FA-6404-A40B-C5BC5C2FF061}"/>
              </a:ext>
            </a:extLst>
          </p:cNvPr>
          <p:cNvSpPr/>
          <p:nvPr/>
        </p:nvSpPr>
        <p:spPr>
          <a:xfrm>
            <a:off x="6140987" y="2767437"/>
            <a:ext cx="1371600" cy="68580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53494"/>
                </a:solidFill>
              </a:rPr>
              <a:t>Water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30D1EC-DFB7-187D-7B0C-3274DE7D6B4F}"/>
              </a:ext>
            </a:extLst>
          </p:cNvPr>
          <p:cNvSpPr/>
          <p:nvPr/>
        </p:nvSpPr>
        <p:spPr>
          <a:xfrm>
            <a:off x="4690334" y="3526674"/>
            <a:ext cx="1371600" cy="68580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53494"/>
                </a:solidFill>
              </a:rPr>
              <a:t>Nitrogen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380CB9-B19B-5791-9A2A-D2ED27DF25F0}"/>
              </a:ext>
            </a:extLst>
          </p:cNvPr>
          <p:cNvSpPr/>
          <p:nvPr/>
        </p:nvSpPr>
        <p:spPr>
          <a:xfrm>
            <a:off x="6140987" y="3530829"/>
            <a:ext cx="1371600" cy="685800"/>
          </a:xfrm>
          <a:prstGeom prst="rect">
            <a:avLst/>
          </a:prstGeom>
          <a:solidFill>
            <a:srgbClr val="41B6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53494"/>
                </a:solidFill>
              </a:rPr>
              <a:t>Crop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3647101-A655-21DA-25EB-772253832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135" y="5374430"/>
            <a:ext cx="819914" cy="81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6F36329-8849-9830-EA1B-787BBA6A92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653" t="14194" r="61198" b="25000"/>
          <a:stretch/>
        </p:blipFill>
        <p:spPr>
          <a:xfrm>
            <a:off x="5037102" y="4468596"/>
            <a:ext cx="2117796" cy="1811669"/>
          </a:xfrm>
          <a:prstGeom prst="rect">
            <a:avLst/>
          </a:prstGeom>
        </p:spPr>
      </p:pic>
      <p:pic>
        <p:nvPicPr>
          <p:cNvPr id="44" name="Picture 43" descr="A map of the united states&#10;&#10;Description automatically generated">
            <a:extLst>
              <a:ext uri="{FF2B5EF4-FFF2-40B4-BE49-F238E27FC236}">
                <a16:creationId xmlns:a16="http://schemas.microsoft.com/office/drawing/2014/main" id="{A1721622-EB69-90CB-B179-77A9D0B4C51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46" b="11332"/>
          <a:stretch/>
        </p:blipFill>
        <p:spPr>
          <a:xfrm>
            <a:off x="8764366" y="964276"/>
            <a:ext cx="2268518" cy="186748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C0A87BA-E9F4-822A-79CC-D55A3C87B6BD}"/>
              </a:ext>
            </a:extLst>
          </p:cNvPr>
          <p:cNvSpPr txBox="1"/>
          <p:nvPr/>
        </p:nvSpPr>
        <p:spPr>
          <a:xfrm>
            <a:off x="9159820" y="1090254"/>
            <a:ext cx="698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07512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0D87-B73D-3724-404E-F09AC20ECE41}"/>
              </a:ext>
            </a:extLst>
          </p:cNvPr>
          <p:cNvSpPr txBox="1">
            <a:spLocks/>
          </p:cNvSpPr>
          <p:nvPr/>
        </p:nvSpPr>
        <p:spPr>
          <a:xfrm>
            <a:off x="473909" y="193106"/>
            <a:ext cx="5438314" cy="12188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89746F4F-3976-E33F-9925-C8AAE83EE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9" r="24996" b="43608"/>
          <a:stretch>
            <a:fillRect/>
          </a:stretch>
        </p:blipFill>
        <p:spPr>
          <a:xfrm>
            <a:off x="4074459" y="1071192"/>
            <a:ext cx="7413811" cy="4715615"/>
          </a:xfrm>
          <a:prstGeom prst="rect">
            <a:avLst/>
          </a:prstGeom>
        </p:spPr>
      </p:pic>
      <p:pic>
        <p:nvPicPr>
          <p:cNvPr id="5" name="Picture 4" descr="A graph with green dots and numbers&#10;&#10;Description automatically generated">
            <a:extLst>
              <a:ext uri="{FF2B5EF4-FFF2-40B4-BE49-F238E27FC236}">
                <a16:creationId xmlns:a16="http://schemas.microsoft.com/office/drawing/2014/main" id="{7951DBB0-2C16-56EE-EF7E-4DBEFAC7EE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4" y="1437684"/>
            <a:ext cx="3121357" cy="27544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AC826B7-5255-D86D-1014-25EC08943F45}"/>
              </a:ext>
            </a:extLst>
          </p:cNvPr>
          <p:cNvSpPr txBox="1">
            <a:spLocks/>
          </p:cNvSpPr>
          <p:nvPr/>
        </p:nvSpPr>
        <p:spPr>
          <a:xfrm>
            <a:off x="792728" y="984628"/>
            <a:ext cx="2217273" cy="4273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Soybean sowing date progress in 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21643-F57F-B5B1-E7F3-9BA8A0EB230E}"/>
              </a:ext>
            </a:extLst>
          </p:cNvPr>
          <p:cNvSpPr txBox="1"/>
          <p:nvPr/>
        </p:nvSpPr>
        <p:spPr>
          <a:xfrm>
            <a:off x="448255" y="127994"/>
            <a:ext cx="11987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A61E36"/>
                </a:solidFill>
              </a:rPr>
              <a:t>Case study 2 – the APSIM-Soybean model</a:t>
            </a:r>
          </a:p>
        </p:txBody>
      </p:sp>
    </p:spTree>
    <p:extLst>
      <p:ext uri="{BB962C8B-B14F-4D97-AF65-F5344CB8AC3E}">
        <p14:creationId xmlns:p14="http://schemas.microsoft.com/office/powerpoint/2010/main" val="428490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2C29-D315-E032-2316-E213C4E39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7C4FED-CD64-E6D8-6521-5B5C1171F88F}"/>
              </a:ext>
            </a:extLst>
          </p:cNvPr>
          <p:cNvSpPr txBox="1"/>
          <p:nvPr/>
        </p:nvSpPr>
        <p:spPr>
          <a:xfrm>
            <a:off x="6544240" y="667256"/>
            <a:ext cx="4790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Limited transpiration trait</a:t>
            </a:r>
            <a:endParaRPr lang="en-US" sz="3600" dirty="0">
              <a:solidFill>
                <a:srgbClr val="0070C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7E63CC-1D9C-CFAE-4E39-73BF54FE6399}"/>
              </a:ext>
            </a:extLst>
          </p:cNvPr>
          <p:cNvGrpSpPr>
            <a:grpSpLocks/>
          </p:cNvGrpSpPr>
          <p:nvPr/>
        </p:nvGrpSpPr>
        <p:grpSpPr bwMode="auto">
          <a:xfrm>
            <a:off x="294569" y="1239440"/>
            <a:ext cx="5486400" cy="5486400"/>
            <a:chOff x="0" y="2268"/>
            <a:chExt cx="7315200" cy="7315200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A2CCC437-E505-F37B-A010-763B3A15B7D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0" y="2268"/>
            <a:ext cx="7315200" cy="7315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F998D5A7-2EE2-6DE2-5074-D456EE59EE32}"/>
                </a:ext>
              </a:extLst>
            </p:cNvPr>
            <p:cNvSpPr txBox="1"/>
            <p:nvPr/>
          </p:nvSpPr>
          <p:spPr>
            <a:xfrm>
              <a:off x="760307" y="434068"/>
              <a:ext cx="6394027" cy="368300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0" kern="1200" dirty="0">
                  <a:solidFill>
                    <a:srgbClr val="FF0000"/>
                  </a:solidFill>
                </a:rPr>
                <a:t>VPD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050CAA-ACA4-6D8B-B0A9-E22E0C9FF0FC}"/>
              </a:ext>
            </a:extLst>
          </p:cNvPr>
          <p:cNvGrpSpPr>
            <a:grpSpLocks/>
          </p:cNvGrpSpPr>
          <p:nvPr/>
        </p:nvGrpSpPr>
        <p:grpSpPr bwMode="auto">
          <a:xfrm>
            <a:off x="5996869" y="1237172"/>
            <a:ext cx="5486400" cy="5480050"/>
            <a:chOff x="5702300" y="0"/>
            <a:chExt cx="7315200" cy="7315200"/>
          </a:xfrm>
        </p:grpSpPr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077B3222-42DF-E55E-1158-C1B3FDF9779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02300" y="0"/>
            <a:ext cx="7315200" cy="7315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51112DB-8159-7A9F-EB9B-5365AB93FD85}"/>
                </a:ext>
              </a:extLst>
            </p:cNvPr>
            <p:cNvSpPr txBox="1"/>
            <p:nvPr/>
          </p:nvSpPr>
          <p:spPr>
            <a:xfrm>
              <a:off x="6432127" y="252417"/>
              <a:ext cx="6387253" cy="65777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0" kern="1200" dirty="0">
                  <a:solidFill>
                    <a:srgbClr val="0070C0"/>
                  </a:solidFill>
                </a:rPr>
                <a:t>Transpiration</a:t>
              </a: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30158A-2B33-7346-2912-5CB848BEB0D0}"/>
              </a:ext>
            </a:extLst>
          </p:cNvPr>
          <p:cNvCxnSpPr>
            <a:cxnSpLocks/>
          </p:cNvCxnSpPr>
          <p:nvPr/>
        </p:nvCxnSpPr>
        <p:spPr>
          <a:xfrm>
            <a:off x="864799" y="2889306"/>
            <a:ext cx="475488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5BCCA7A-CC77-1EF1-05F9-3A69BF2E07F2}"/>
              </a:ext>
            </a:extLst>
          </p:cNvPr>
          <p:cNvSpPr/>
          <p:nvPr/>
        </p:nvSpPr>
        <p:spPr>
          <a:xfrm>
            <a:off x="7997519" y="2267495"/>
            <a:ext cx="1796164" cy="615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62BD2A-D6D1-703A-1AB9-0EE727705478}"/>
              </a:ext>
            </a:extLst>
          </p:cNvPr>
          <p:cNvCxnSpPr>
            <a:cxnSpLocks/>
          </p:cNvCxnSpPr>
          <p:nvPr/>
        </p:nvCxnSpPr>
        <p:spPr>
          <a:xfrm>
            <a:off x="8102529" y="2894386"/>
            <a:ext cx="1645920" cy="0"/>
          </a:xfrm>
          <a:prstGeom prst="line">
            <a:avLst/>
          </a:prstGeom>
          <a:ln w="3810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8D145FB-FC79-4480-399E-7FA990E7252A}"/>
              </a:ext>
            </a:extLst>
          </p:cNvPr>
          <p:cNvSpPr/>
          <p:nvPr/>
        </p:nvSpPr>
        <p:spPr>
          <a:xfrm>
            <a:off x="8116962" y="2478373"/>
            <a:ext cx="1590675" cy="409575"/>
          </a:xfrm>
          <a:custGeom>
            <a:avLst/>
            <a:gdLst>
              <a:gd name="connsiteX0" fmla="*/ 0 w 1590675"/>
              <a:gd name="connsiteY0" fmla="*/ 381000 h 409575"/>
              <a:gd name="connsiteX1" fmla="*/ 195262 w 1590675"/>
              <a:gd name="connsiteY1" fmla="*/ 219075 h 409575"/>
              <a:gd name="connsiteX2" fmla="*/ 423862 w 1590675"/>
              <a:gd name="connsiteY2" fmla="*/ 80962 h 409575"/>
              <a:gd name="connsiteX3" fmla="*/ 614362 w 1590675"/>
              <a:gd name="connsiteY3" fmla="*/ 14287 h 409575"/>
              <a:gd name="connsiteX4" fmla="*/ 804862 w 1590675"/>
              <a:gd name="connsiteY4" fmla="*/ 0 h 409575"/>
              <a:gd name="connsiteX5" fmla="*/ 1081087 w 1590675"/>
              <a:gd name="connsiteY5" fmla="*/ 47625 h 409575"/>
              <a:gd name="connsiteX6" fmla="*/ 1257300 w 1590675"/>
              <a:gd name="connsiteY6" fmla="*/ 147637 h 409575"/>
              <a:gd name="connsiteX7" fmla="*/ 1438275 w 1590675"/>
              <a:gd name="connsiteY7" fmla="*/ 261937 h 409575"/>
              <a:gd name="connsiteX8" fmla="*/ 1590675 w 1590675"/>
              <a:gd name="connsiteY8" fmla="*/ 409575 h 409575"/>
              <a:gd name="connsiteX9" fmla="*/ 0 w 1590675"/>
              <a:gd name="connsiteY9" fmla="*/ 38100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0675" h="409575">
                <a:moveTo>
                  <a:pt x="0" y="381000"/>
                </a:moveTo>
                <a:lnTo>
                  <a:pt x="195262" y="219075"/>
                </a:lnTo>
                <a:lnTo>
                  <a:pt x="423862" y="80962"/>
                </a:lnTo>
                <a:lnTo>
                  <a:pt x="614362" y="14287"/>
                </a:lnTo>
                <a:lnTo>
                  <a:pt x="804862" y="0"/>
                </a:lnTo>
                <a:lnTo>
                  <a:pt x="1081087" y="47625"/>
                </a:lnTo>
                <a:lnTo>
                  <a:pt x="1257300" y="147637"/>
                </a:lnTo>
                <a:lnTo>
                  <a:pt x="1438275" y="261937"/>
                </a:lnTo>
                <a:lnTo>
                  <a:pt x="1590675" y="409575"/>
                </a:lnTo>
                <a:lnTo>
                  <a:pt x="0" y="381000"/>
                </a:lnTo>
                <a:close/>
              </a:path>
            </a:pathLst>
          </a:custGeom>
          <a:solidFill>
            <a:srgbClr val="BDD7E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46CCC-E2B4-E714-D9EC-2FEF0616AECA}"/>
              </a:ext>
            </a:extLst>
          </p:cNvPr>
          <p:cNvSpPr txBox="1"/>
          <p:nvPr/>
        </p:nvSpPr>
        <p:spPr>
          <a:xfrm>
            <a:off x="605123" y="667256"/>
            <a:ext cx="5243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Non-limited transpiration trait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F5554-A56D-568D-1D44-93F0AD7BACF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4901" r="54585" b="8232"/>
          <a:stretch/>
        </p:blipFill>
        <p:spPr>
          <a:xfrm>
            <a:off x="7187138" y="3886832"/>
            <a:ext cx="3257296" cy="226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0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3465</TotalTime>
  <Words>471</Words>
  <Application>Microsoft Office PowerPoint</Application>
  <PresentationFormat>Widescreen</PresentationFormat>
  <Paragraphs>139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Elli, Elvis Felipe [AGRON]</dc:creator>
  <cp:lastModifiedBy>Elvis F. Elli</cp:lastModifiedBy>
  <cp:revision>94</cp:revision>
  <dcterms:created xsi:type="dcterms:W3CDTF">2022-10-18T19:19:45Z</dcterms:created>
  <dcterms:modified xsi:type="dcterms:W3CDTF">2026-05-19T21:04:50Z</dcterms:modified>
</cp:coreProperties>
</file>