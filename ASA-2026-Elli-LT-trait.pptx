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71" r:id="rId2"/>
    <p:sldId id="684" r:id="rId3"/>
    <p:sldId id="721" r:id="rId29"/>
    <p:sldId id="691" r:id="rId4"/>
    <p:sldId id="704" r:id="rId5"/>
    <p:sldId id="722" r:id="rId30"/>
    <p:sldId id="723" r:id="rId31"/>
    <p:sldId id="724" r:id="rId32"/>
    <p:sldId id="725" r:id="rId33"/>
    <p:sldId id="726" r:id="rId34"/>
    <p:sldId id="727" r:id="rId35"/>
    <p:sldId id="728" r:id="rId36"/>
    <p:sldId id="729" r:id="rId37"/>
    <p:sldId id="730" r:id="rId38"/>
    <p:sldId id="731" r:id="rId39"/>
    <p:sldId id="732" r:id="rId40"/>
    <p:sldId id="733" r:id="rId41"/>
    <p:sldId id="734" r:id="rId42"/>
    <p:sldId id="735" r:id="rId43"/>
    <p:sldId id="663" r:id="rId16"/>
    <p:sldId id="70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C2136"/>
    <a:srgbClr val="1A9850"/>
    <a:srgbClr val="8C510A"/>
    <a:srgbClr val="01665E"/>
    <a:srgbClr val="D73027"/>
    <a:srgbClr val="41B6C4"/>
    <a:srgbClr val="2C7FB8"/>
    <a:srgbClr val="FFFFCC"/>
    <a:srgbClr val="253494"/>
    <a:srgbClr val="7FCD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369" autoAdjust="0"/>
  </p:normalViewPr>
  <p:slideViewPr>
    <p:cSldViewPr snapToGrid="0">
      <p:cViewPr varScale="1">
        <p:scale>
          <a:sx n="142" d="100"/>
          <a:sy n="142" d="100"/>
        </p:scale>
        <p:origin x="980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4" Type="http://schemas.openxmlformats.org/officeDocument/2006/relationships/slide" Target="slides/slide3.xml"/><Relationship Id="rId27" Type="http://schemas.openxmlformats.org/officeDocument/2006/relationships/tableStyles" Target="tableStyles.xml"/>  <Relationship Id="rId29" Type="http://schemas.openxmlformats.org/officeDocument/2006/relationships/slide" Target="slides/slide22.xml"/>
  <Relationship Id="rId30" Type="http://schemas.openxmlformats.org/officeDocument/2006/relationships/slide" Target="slides/slide23.xml"/>
  <Relationship Id="rId31" Type="http://schemas.openxmlformats.org/officeDocument/2006/relationships/slide" Target="slides/slide24.xml"/>
  <Relationship Id="rId32" Type="http://schemas.openxmlformats.org/officeDocument/2006/relationships/slide" Target="slides/slide25.xml"/>
  <Relationship Id="rId33" Type="http://schemas.openxmlformats.org/officeDocument/2006/relationships/slide" Target="slides/slide26.xml"/>
  <Relationship Id="rId34" Type="http://schemas.openxmlformats.org/officeDocument/2006/relationships/slide" Target="slides/slide27.xml"/>
  <Relationship Id="rId35" Type="http://schemas.openxmlformats.org/officeDocument/2006/relationships/slide" Target="slides/slide28.xml"/>
  <Relationship Id="rId36" Type="http://schemas.openxmlformats.org/officeDocument/2006/relationships/slide" Target="slides/slide29.xml"/>
  <Relationship Id="rId37" Type="http://schemas.openxmlformats.org/officeDocument/2006/relationships/slide" Target="slides/slide30.xml"/>
  <Relationship Id="rId38" Type="http://schemas.openxmlformats.org/officeDocument/2006/relationships/slide" Target="slides/slide31.xml"/>
  <Relationship Id="rId39" Type="http://schemas.openxmlformats.org/officeDocument/2006/relationships/slide" Target="slides/slide32.xml"/>
  <Relationship Id="rId40" Type="http://schemas.openxmlformats.org/officeDocument/2006/relationships/slide" Target="slides/slide33.xml"/>
  <Relationship Id="rId41" Type="http://schemas.openxmlformats.org/officeDocument/2006/relationships/slide" Target="slides/slide34.xml"/>
  <Relationship Id="rId42" Type="http://schemas.openxmlformats.org/officeDocument/2006/relationships/slide" Target="slides/slide35.xml"/>
  <Relationship Id="rId43" Type="http://schemas.openxmlformats.org/officeDocument/2006/relationships/slide" Target="slides/slide36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vis Felipe Elli" userId="28671858541_tp_box_2" providerId="OAuth2" clId="{D9306D32-8BD8-4A71-994B-C7F175BEA089}"/>
    <pc:docChg chg="undo redo custSel addSld delSld modSld sldOrd">
      <pc:chgData name="Elvis Felipe Elli" userId="28671858541_tp_box_2" providerId="OAuth2" clId="{D9306D32-8BD8-4A71-994B-C7F175BEA089}" dt="2026-05-19T21:04:50.703" v="2661" actId="1076"/>
      <pc:docMkLst>
        <pc:docMk/>
      </pc:docMkLst>
      <pc:sldChg chg="addSp delSp modSp add mod">
        <pc:chgData name="Elvis Felipe Elli" userId="28671858541_tp_box_2" providerId="OAuth2" clId="{D9306D32-8BD8-4A71-994B-C7F175BEA089}" dt="2026-05-19T21:04:50.703" v="2661" actId="1076"/>
        <pc:sldMkLst>
          <pc:docMk/>
          <pc:sldMk cId="2404648865" sldId="715"/>
        </pc:sldMkLst>
        <pc:picChg chg="add mod">
          <ac:chgData name="Elvis Felipe Elli" userId="28671858541_tp_box_2" providerId="OAuth2" clId="{D9306D32-8BD8-4A71-994B-C7F175BEA089}" dt="2026-05-19T21:04:50.703" v="2661" actId="1076"/>
          <ac:picMkLst>
            <pc:docMk/>
            <pc:sldMk cId="2404648865" sldId="715"/>
            <ac:picMk id="4" creationId="{4F1FD2EA-A1CA-2839-9A4E-2D64E1CB4F03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efelli\Box\_Projects\Corteva%20-%20Breeding%20effects%20on%20corn%20hybrids\VPD%20figure\diario2024%20esalq.xls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efelli\Box\_Projects\Corteva%20-%20Breeding%20effects%20on%20corn%20hybrids\VPD%20figure\diario2024%20esalq.xls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2"/>
          <c:order val="0"/>
          <c:tx>
            <c:strRef>
              <c:f>'concept (2)'!$I$1</c:f>
              <c:strCache>
                <c:ptCount val="1"/>
                <c:pt idx="0">
                  <c:v>VPD</c:v>
                </c:pt>
              </c:strCache>
            </c:strRef>
          </c:tx>
          <c:spPr>
            <a:ln w="31750" cap="rnd">
              <a:noFill/>
              <a:prstDash val="sysDash"/>
              <a:round/>
            </a:ln>
            <a:effectLst/>
          </c:spPr>
          <c:marker>
            <c:symbol val="none"/>
          </c:marker>
          <c:trendline>
            <c:spPr>
              <a:ln w="25400">
                <a:solidFill>
                  <a:srgbClr val="FF0000"/>
                </a:solidFill>
              </a:ln>
            </c:spPr>
            <c:trendlineType val="poly"/>
            <c:order val="2"/>
            <c:dispRSqr val="0"/>
            <c:dispEq val="0"/>
          </c:trendline>
          <c:xVal>
            <c:numRef>
              <c:f>'concept (2)'!$C$35:$C$97</c:f>
              <c:numCache>
                <c:formatCode>General</c:formatCode>
                <c:ptCount val="63"/>
                <c:pt idx="0">
                  <c:v>495</c:v>
                </c:pt>
                <c:pt idx="1">
                  <c:v>510</c:v>
                </c:pt>
                <c:pt idx="2">
                  <c:v>525</c:v>
                </c:pt>
                <c:pt idx="3">
                  <c:v>540</c:v>
                </c:pt>
                <c:pt idx="4">
                  <c:v>555</c:v>
                </c:pt>
                <c:pt idx="5">
                  <c:v>570</c:v>
                </c:pt>
                <c:pt idx="6">
                  <c:v>585</c:v>
                </c:pt>
                <c:pt idx="7">
                  <c:v>600</c:v>
                </c:pt>
                <c:pt idx="8">
                  <c:v>615</c:v>
                </c:pt>
                <c:pt idx="9">
                  <c:v>630</c:v>
                </c:pt>
                <c:pt idx="10">
                  <c:v>645</c:v>
                </c:pt>
                <c:pt idx="11">
                  <c:v>660</c:v>
                </c:pt>
                <c:pt idx="12">
                  <c:v>675</c:v>
                </c:pt>
                <c:pt idx="13">
                  <c:v>690</c:v>
                </c:pt>
                <c:pt idx="14">
                  <c:v>705</c:v>
                </c:pt>
                <c:pt idx="15">
                  <c:v>720</c:v>
                </c:pt>
                <c:pt idx="16">
                  <c:v>735</c:v>
                </c:pt>
                <c:pt idx="17">
                  <c:v>750</c:v>
                </c:pt>
                <c:pt idx="18">
                  <c:v>765</c:v>
                </c:pt>
                <c:pt idx="19">
                  <c:v>780</c:v>
                </c:pt>
                <c:pt idx="20">
                  <c:v>795</c:v>
                </c:pt>
                <c:pt idx="21">
                  <c:v>810</c:v>
                </c:pt>
                <c:pt idx="22">
                  <c:v>825</c:v>
                </c:pt>
                <c:pt idx="23">
                  <c:v>840</c:v>
                </c:pt>
                <c:pt idx="24">
                  <c:v>855</c:v>
                </c:pt>
                <c:pt idx="25">
                  <c:v>870</c:v>
                </c:pt>
                <c:pt idx="26">
                  <c:v>885</c:v>
                </c:pt>
                <c:pt idx="27">
                  <c:v>900</c:v>
                </c:pt>
                <c:pt idx="28">
                  <c:v>915</c:v>
                </c:pt>
                <c:pt idx="29">
                  <c:v>930</c:v>
                </c:pt>
                <c:pt idx="30">
                  <c:v>945</c:v>
                </c:pt>
                <c:pt idx="31">
                  <c:v>960</c:v>
                </c:pt>
                <c:pt idx="32">
                  <c:v>975</c:v>
                </c:pt>
                <c:pt idx="33">
                  <c:v>990</c:v>
                </c:pt>
                <c:pt idx="34">
                  <c:v>1005</c:v>
                </c:pt>
                <c:pt idx="35">
                  <c:v>1020</c:v>
                </c:pt>
                <c:pt idx="36">
                  <c:v>1035</c:v>
                </c:pt>
                <c:pt idx="37">
                  <c:v>1050</c:v>
                </c:pt>
                <c:pt idx="38">
                  <c:v>1065</c:v>
                </c:pt>
                <c:pt idx="39">
                  <c:v>1080</c:v>
                </c:pt>
                <c:pt idx="40">
                  <c:v>1095</c:v>
                </c:pt>
                <c:pt idx="41">
                  <c:v>1110</c:v>
                </c:pt>
                <c:pt idx="42">
                  <c:v>1125</c:v>
                </c:pt>
                <c:pt idx="43">
                  <c:v>1140</c:v>
                </c:pt>
                <c:pt idx="44">
                  <c:v>1155</c:v>
                </c:pt>
                <c:pt idx="45">
                  <c:v>1170</c:v>
                </c:pt>
                <c:pt idx="46">
                  <c:v>1185</c:v>
                </c:pt>
                <c:pt idx="47">
                  <c:v>1200</c:v>
                </c:pt>
                <c:pt idx="48">
                  <c:v>1215</c:v>
                </c:pt>
                <c:pt idx="49">
                  <c:v>1230</c:v>
                </c:pt>
                <c:pt idx="50">
                  <c:v>1245</c:v>
                </c:pt>
                <c:pt idx="51">
                  <c:v>1260</c:v>
                </c:pt>
                <c:pt idx="52">
                  <c:v>1275</c:v>
                </c:pt>
                <c:pt idx="53">
                  <c:v>1290</c:v>
                </c:pt>
                <c:pt idx="54">
                  <c:v>1305</c:v>
                </c:pt>
                <c:pt idx="55">
                  <c:v>1320</c:v>
                </c:pt>
                <c:pt idx="56">
                  <c:v>1335</c:v>
                </c:pt>
                <c:pt idx="57">
                  <c:v>1350</c:v>
                </c:pt>
                <c:pt idx="58">
                  <c:v>1365</c:v>
                </c:pt>
                <c:pt idx="59">
                  <c:v>1380</c:v>
                </c:pt>
                <c:pt idx="60">
                  <c:v>1395</c:v>
                </c:pt>
                <c:pt idx="61">
                  <c:v>1410</c:v>
                </c:pt>
                <c:pt idx="62">
                  <c:v>1425</c:v>
                </c:pt>
              </c:numCache>
            </c:numRef>
          </c:xVal>
          <c:yVal>
            <c:numRef>
              <c:f>'concept (2)'!$L$35:$L$97</c:f>
              <c:numCache>
                <c:formatCode>General</c:formatCode>
                <c:ptCount val="63"/>
                <c:pt idx="0">
                  <c:v>0.3413971179343307</c:v>
                </c:pt>
                <c:pt idx="1">
                  <c:v>0.32953604067428871</c:v>
                </c:pt>
                <c:pt idx="2">
                  <c:v>0.34066438238699187</c:v>
                </c:pt>
                <c:pt idx="3">
                  <c:v>0.45342190738754617</c:v>
                </c:pt>
                <c:pt idx="4">
                  <c:v>0.49690571834839148</c:v>
                </c:pt>
                <c:pt idx="5">
                  <c:v>0.47670822589395473</c:v>
                </c:pt>
                <c:pt idx="6">
                  <c:v>0.49114975700100233</c:v>
                </c:pt>
                <c:pt idx="7">
                  <c:v>0.49735379054265344</c:v>
                </c:pt>
                <c:pt idx="8">
                  <c:v>0.5815040047725194</c:v>
                </c:pt>
                <c:pt idx="9">
                  <c:v>0.60665931705909348</c:v>
                </c:pt>
                <c:pt idx="10">
                  <c:v>0.66530786948778353</c:v>
                </c:pt>
                <c:pt idx="11">
                  <c:v>0.69890412587698425</c:v>
                </c:pt>
                <c:pt idx="12">
                  <c:v>0.76068886932741342</c:v>
                </c:pt>
                <c:pt idx="13">
                  <c:v>0.70246800830882705</c:v>
                </c:pt>
                <c:pt idx="14">
                  <c:v>0.79776184983792231</c:v>
                </c:pt>
                <c:pt idx="15">
                  <c:v>0.8089106518584972</c:v>
                </c:pt>
                <c:pt idx="16">
                  <c:v>0.81129081593901187</c:v>
                </c:pt>
                <c:pt idx="17">
                  <c:v>0.83621593830747276</c:v>
                </c:pt>
                <c:pt idx="18">
                  <c:v>0.88140770422033388</c:v>
                </c:pt>
                <c:pt idx="19">
                  <c:v>0.83242683149270691</c:v>
                </c:pt>
                <c:pt idx="20">
                  <c:v>0.89572774577049585</c:v>
                </c:pt>
                <c:pt idx="21">
                  <c:v>0.93566488882102472</c:v>
                </c:pt>
                <c:pt idx="22">
                  <c:v>0.90824214391625191</c:v>
                </c:pt>
                <c:pt idx="23">
                  <c:v>0.91615578077209381</c:v>
                </c:pt>
                <c:pt idx="24">
                  <c:v>0.91147217553737758</c:v>
                </c:pt>
                <c:pt idx="25">
                  <c:v>0.95064714987214127</c:v>
                </c:pt>
                <c:pt idx="26">
                  <c:v>0.96184928214806276</c:v>
                </c:pt>
                <c:pt idx="27">
                  <c:v>0.97126666912886594</c:v>
                </c:pt>
                <c:pt idx="28">
                  <c:v>0.86713212422180208</c:v>
                </c:pt>
                <c:pt idx="29">
                  <c:v>0.84008735135730717</c:v>
                </c:pt>
                <c:pt idx="30">
                  <c:v>0.85394753072703611</c:v>
                </c:pt>
                <c:pt idx="31">
                  <c:v>0.85272342541037449</c:v>
                </c:pt>
                <c:pt idx="32">
                  <c:v>0.87251599096540322</c:v>
                </c:pt>
                <c:pt idx="33">
                  <c:v>0.92605956637724796</c:v>
                </c:pt>
                <c:pt idx="34">
                  <c:v>0.95487657300897688</c:v>
                </c:pt>
                <c:pt idx="35">
                  <c:v>0.98047019400874458</c:v>
                </c:pt>
                <c:pt idx="36">
                  <c:v>1</c:v>
                </c:pt>
                <c:pt idx="37">
                  <c:v>0.99302775954519262</c:v>
                </c:pt>
                <c:pt idx="38">
                  <c:v>0.94330213847165045</c:v>
                </c:pt>
                <c:pt idx="39">
                  <c:v>0.94927390597469807</c:v>
                </c:pt>
                <c:pt idx="40">
                  <c:v>0.91197269264194636</c:v>
                </c:pt>
                <c:pt idx="41">
                  <c:v>0.86315463438335438</c:v>
                </c:pt>
                <c:pt idx="42">
                  <c:v>0.87786559502326411</c:v>
                </c:pt>
                <c:pt idx="43">
                  <c:v>0.69880140211102981</c:v>
                </c:pt>
                <c:pt idx="44">
                  <c:v>0.61564644847645322</c:v>
                </c:pt>
                <c:pt idx="45">
                  <c:v>0.60765441863393965</c:v>
                </c:pt>
                <c:pt idx="46">
                  <c:v>0.61278715429785657</c:v>
                </c:pt>
                <c:pt idx="47">
                  <c:v>0.64016458236153762</c:v>
                </c:pt>
                <c:pt idx="48">
                  <c:v>0.632891020038298</c:v>
                </c:pt>
                <c:pt idx="49">
                  <c:v>0.64085533849904341</c:v>
                </c:pt>
                <c:pt idx="50">
                  <c:v>0.63371862305663773</c:v>
                </c:pt>
                <c:pt idx="51">
                  <c:v>0.59894167996637682</c:v>
                </c:pt>
                <c:pt idx="52">
                  <c:v>0.5554846472527285</c:v>
                </c:pt>
                <c:pt idx="53">
                  <c:v>0.51290662232251583</c:v>
                </c:pt>
                <c:pt idx="54">
                  <c:v>0.49723417795753666</c:v>
                </c:pt>
                <c:pt idx="55">
                  <c:v>0.4679645157758866</c:v>
                </c:pt>
                <c:pt idx="56">
                  <c:v>0.43860059348849617</c:v>
                </c:pt>
                <c:pt idx="57">
                  <c:v>0.43241607614244609</c:v>
                </c:pt>
                <c:pt idx="58">
                  <c:v>0.41412830090977393</c:v>
                </c:pt>
                <c:pt idx="59">
                  <c:v>0.37788901423971638</c:v>
                </c:pt>
                <c:pt idx="60">
                  <c:v>0.39072613056910321</c:v>
                </c:pt>
                <c:pt idx="61">
                  <c:v>0.35025790846208665</c:v>
                </c:pt>
                <c:pt idx="62">
                  <c:v>0.30909027936158523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8B2-4F58-84B7-E5BDC463B3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53034848"/>
        <c:axId val="1"/>
      </c:scatterChart>
      <c:valAx>
        <c:axId val="1553034848"/>
        <c:scaling>
          <c:orientation val="minMax"/>
          <c:max val="1500"/>
          <c:min val="40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Day Time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crossAx val="1"/>
        <c:crosses val="autoZero"/>
        <c:crossBetween val="midCat"/>
      </c:valAx>
      <c:valAx>
        <c:axId val="1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Relative response</a:t>
                </a:r>
              </a:p>
            </c:rich>
          </c:tx>
          <c:layout>
            <c:manualLayout>
              <c:xMode val="edge"/>
              <c:yMode val="edge"/>
              <c:x val="8.6805555555555559E-3"/>
              <c:y val="0.31795138888888885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3034848"/>
        <c:crosses val="autoZero"/>
        <c:crossBetween val="midCat"/>
      </c:valAx>
      <c:spPr>
        <a:noFill/>
        <a:ln>
          <a:solidFill>
            <a:sysClr val="windowText" lastClr="000000"/>
          </a:solidFill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2400">
          <a:solidFill>
            <a:sysClr val="windowText" lastClr="000000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2"/>
          <c:order val="0"/>
          <c:tx>
            <c:strRef>
              <c:f>'concept (2)'!$I$1</c:f>
              <c:strCache>
                <c:ptCount val="1"/>
                <c:pt idx="0">
                  <c:v>VPD</c:v>
                </c:pt>
              </c:strCache>
            </c:strRef>
          </c:tx>
          <c:spPr>
            <a:ln w="31750" cap="rnd">
              <a:noFill/>
              <a:prstDash val="sysDash"/>
              <a:round/>
            </a:ln>
            <a:effectLst/>
          </c:spPr>
          <c:marker>
            <c:symbol val="none"/>
          </c:marker>
          <c:trendline>
            <c:spPr>
              <a:ln w="25400">
                <a:solidFill>
                  <a:srgbClr val="0070C0"/>
                </a:solidFill>
              </a:ln>
            </c:spPr>
            <c:trendlineType val="poly"/>
            <c:order val="2"/>
            <c:dispRSqr val="0"/>
            <c:dispEq val="0"/>
          </c:trendline>
          <c:xVal>
            <c:numRef>
              <c:f>'concept (2)'!$C$35:$C$97</c:f>
              <c:numCache>
                <c:formatCode>General</c:formatCode>
                <c:ptCount val="63"/>
                <c:pt idx="0">
                  <c:v>495</c:v>
                </c:pt>
                <c:pt idx="1">
                  <c:v>510</c:v>
                </c:pt>
                <c:pt idx="2">
                  <c:v>525</c:v>
                </c:pt>
                <c:pt idx="3">
                  <c:v>540</c:v>
                </c:pt>
                <c:pt idx="4">
                  <c:v>555</c:v>
                </c:pt>
                <c:pt idx="5">
                  <c:v>570</c:v>
                </c:pt>
                <c:pt idx="6">
                  <c:v>585</c:v>
                </c:pt>
                <c:pt idx="7">
                  <c:v>600</c:v>
                </c:pt>
                <c:pt idx="8">
                  <c:v>615</c:v>
                </c:pt>
                <c:pt idx="9">
                  <c:v>630</c:v>
                </c:pt>
                <c:pt idx="10">
                  <c:v>645</c:v>
                </c:pt>
                <c:pt idx="11">
                  <c:v>660</c:v>
                </c:pt>
                <c:pt idx="12">
                  <c:v>675</c:v>
                </c:pt>
                <c:pt idx="13">
                  <c:v>690</c:v>
                </c:pt>
                <c:pt idx="14">
                  <c:v>705</c:v>
                </c:pt>
                <c:pt idx="15">
                  <c:v>720</c:v>
                </c:pt>
                <c:pt idx="16">
                  <c:v>735</c:v>
                </c:pt>
                <c:pt idx="17">
                  <c:v>750</c:v>
                </c:pt>
                <c:pt idx="18">
                  <c:v>765</c:v>
                </c:pt>
                <c:pt idx="19">
                  <c:v>780</c:v>
                </c:pt>
                <c:pt idx="20">
                  <c:v>795</c:v>
                </c:pt>
                <c:pt idx="21">
                  <c:v>810</c:v>
                </c:pt>
                <c:pt idx="22">
                  <c:v>825</c:v>
                </c:pt>
                <c:pt idx="23">
                  <c:v>840</c:v>
                </c:pt>
                <c:pt idx="24">
                  <c:v>855</c:v>
                </c:pt>
                <c:pt idx="25">
                  <c:v>870</c:v>
                </c:pt>
                <c:pt idx="26">
                  <c:v>885</c:v>
                </c:pt>
                <c:pt idx="27">
                  <c:v>900</c:v>
                </c:pt>
                <c:pt idx="28">
                  <c:v>915</c:v>
                </c:pt>
                <c:pt idx="29">
                  <c:v>930</c:v>
                </c:pt>
                <c:pt idx="30">
                  <c:v>945</c:v>
                </c:pt>
                <c:pt idx="31">
                  <c:v>960</c:v>
                </c:pt>
                <c:pt idx="32">
                  <c:v>975</c:v>
                </c:pt>
                <c:pt idx="33">
                  <c:v>990</c:v>
                </c:pt>
                <c:pt idx="34">
                  <c:v>1005</c:v>
                </c:pt>
                <c:pt idx="35">
                  <c:v>1020</c:v>
                </c:pt>
                <c:pt idx="36">
                  <c:v>1035</c:v>
                </c:pt>
                <c:pt idx="37">
                  <c:v>1050</c:v>
                </c:pt>
                <c:pt idx="38">
                  <c:v>1065</c:v>
                </c:pt>
                <c:pt idx="39">
                  <c:v>1080</c:v>
                </c:pt>
                <c:pt idx="40">
                  <c:v>1095</c:v>
                </c:pt>
                <c:pt idx="41">
                  <c:v>1110</c:v>
                </c:pt>
                <c:pt idx="42">
                  <c:v>1125</c:v>
                </c:pt>
                <c:pt idx="43">
                  <c:v>1140</c:v>
                </c:pt>
                <c:pt idx="44">
                  <c:v>1155</c:v>
                </c:pt>
                <c:pt idx="45">
                  <c:v>1170</c:v>
                </c:pt>
                <c:pt idx="46">
                  <c:v>1185</c:v>
                </c:pt>
                <c:pt idx="47">
                  <c:v>1200</c:v>
                </c:pt>
                <c:pt idx="48">
                  <c:v>1215</c:v>
                </c:pt>
                <c:pt idx="49">
                  <c:v>1230</c:v>
                </c:pt>
                <c:pt idx="50">
                  <c:v>1245</c:v>
                </c:pt>
                <c:pt idx="51">
                  <c:v>1260</c:v>
                </c:pt>
                <c:pt idx="52">
                  <c:v>1275</c:v>
                </c:pt>
                <c:pt idx="53">
                  <c:v>1290</c:v>
                </c:pt>
                <c:pt idx="54">
                  <c:v>1305</c:v>
                </c:pt>
                <c:pt idx="55">
                  <c:v>1320</c:v>
                </c:pt>
                <c:pt idx="56">
                  <c:v>1335</c:v>
                </c:pt>
                <c:pt idx="57">
                  <c:v>1350</c:v>
                </c:pt>
                <c:pt idx="58">
                  <c:v>1365</c:v>
                </c:pt>
                <c:pt idx="59">
                  <c:v>1380</c:v>
                </c:pt>
                <c:pt idx="60">
                  <c:v>1395</c:v>
                </c:pt>
                <c:pt idx="61">
                  <c:v>1410</c:v>
                </c:pt>
                <c:pt idx="62">
                  <c:v>1425</c:v>
                </c:pt>
              </c:numCache>
            </c:numRef>
          </c:xVal>
          <c:yVal>
            <c:numRef>
              <c:f>'concept (2)'!$L$35:$L$97</c:f>
              <c:numCache>
                <c:formatCode>General</c:formatCode>
                <c:ptCount val="63"/>
                <c:pt idx="0">
                  <c:v>0.3413971179343307</c:v>
                </c:pt>
                <c:pt idx="1">
                  <c:v>0.32953604067428871</c:v>
                </c:pt>
                <c:pt idx="2">
                  <c:v>0.34066438238699187</c:v>
                </c:pt>
                <c:pt idx="3">
                  <c:v>0.45342190738754617</c:v>
                </c:pt>
                <c:pt idx="4">
                  <c:v>0.49690571834839148</c:v>
                </c:pt>
                <c:pt idx="5">
                  <c:v>0.47670822589395473</c:v>
                </c:pt>
                <c:pt idx="6">
                  <c:v>0.49114975700100233</c:v>
                </c:pt>
                <c:pt idx="7">
                  <c:v>0.49735379054265344</c:v>
                </c:pt>
                <c:pt idx="8">
                  <c:v>0.5815040047725194</c:v>
                </c:pt>
                <c:pt idx="9">
                  <c:v>0.60665931705909348</c:v>
                </c:pt>
                <c:pt idx="10">
                  <c:v>0.66530786948778353</c:v>
                </c:pt>
                <c:pt idx="11">
                  <c:v>0.69890412587698425</c:v>
                </c:pt>
                <c:pt idx="12">
                  <c:v>0.76068886932741342</c:v>
                </c:pt>
                <c:pt idx="13">
                  <c:v>0.70246800830882705</c:v>
                </c:pt>
                <c:pt idx="14">
                  <c:v>0.79776184983792231</c:v>
                </c:pt>
                <c:pt idx="15">
                  <c:v>0.8089106518584972</c:v>
                </c:pt>
                <c:pt idx="16">
                  <c:v>0.81129081593901187</c:v>
                </c:pt>
                <c:pt idx="17">
                  <c:v>0.83621593830747276</c:v>
                </c:pt>
                <c:pt idx="18">
                  <c:v>0.88140770422033388</c:v>
                </c:pt>
                <c:pt idx="19">
                  <c:v>0.83242683149270691</c:v>
                </c:pt>
                <c:pt idx="20">
                  <c:v>0.89572774577049585</c:v>
                </c:pt>
                <c:pt idx="21">
                  <c:v>0.93566488882102472</c:v>
                </c:pt>
                <c:pt idx="22">
                  <c:v>0.90824214391625191</c:v>
                </c:pt>
                <c:pt idx="23">
                  <c:v>0.91615578077209381</c:v>
                </c:pt>
                <c:pt idx="24">
                  <c:v>0.91147217553737758</c:v>
                </c:pt>
                <c:pt idx="25">
                  <c:v>0.95064714987214127</c:v>
                </c:pt>
                <c:pt idx="26">
                  <c:v>0.96184928214806276</c:v>
                </c:pt>
                <c:pt idx="27">
                  <c:v>0.97126666912886594</c:v>
                </c:pt>
                <c:pt idx="28">
                  <c:v>0.86713212422180208</c:v>
                </c:pt>
                <c:pt idx="29">
                  <c:v>0.84008735135730717</c:v>
                </c:pt>
                <c:pt idx="30">
                  <c:v>0.85394753072703611</c:v>
                </c:pt>
                <c:pt idx="31">
                  <c:v>0.85272342541037449</c:v>
                </c:pt>
                <c:pt idx="32">
                  <c:v>0.87251599096540322</c:v>
                </c:pt>
                <c:pt idx="33">
                  <c:v>0.92605956637724796</c:v>
                </c:pt>
                <c:pt idx="34">
                  <c:v>0.95487657300897688</c:v>
                </c:pt>
                <c:pt idx="35">
                  <c:v>0.98047019400874458</c:v>
                </c:pt>
                <c:pt idx="36">
                  <c:v>1</c:v>
                </c:pt>
                <c:pt idx="37">
                  <c:v>0.99302775954519262</c:v>
                </c:pt>
                <c:pt idx="38">
                  <c:v>0.94330213847165045</c:v>
                </c:pt>
                <c:pt idx="39">
                  <c:v>0.94927390597469807</c:v>
                </c:pt>
                <c:pt idx="40">
                  <c:v>0.91197269264194636</c:v>
                </c:pt>
                <c:pt idx="41">
                  <c:v>0.86315463438335438</c:v>
                </c:pt>
                <c:pt idx="42">
                  <c:v>0.87786559502326411</c:v>
                </c:pt>
                <c:pt idx="43">
                  <c:v>0.69880140211102981</c:v>
                </c:pt>
                <c:pt idx="44">
                  <c:v>0.61564644847645322</c:v>
                </c:pt>
                <c:pt idx="45">
                  <c:v>0.60765441863393965</c:v>
                </c:pt>
                <c:pt idx="46">
                  <c:v>0.61278715429785657</c:v>
                </c:pt>
                <c:pt idx="47">
                  <c:v>0.64016458236153762</c:v>
                </c:pt>
                <c:pt idx="48">
                  <c:v>0.632891020038298</c:v>
                </c:pt>
                <c:pt idx="49">
                  <c:v>0.64085533849904341</c:v>
                </c:pt>
                <c:pt idx="50">
                  <c:v>0.63371862305663773</c:v>
                </c:pt>
                <c:pt idx="51">
                  <c:v>0.59894167996637682</c:v>
                </c:pt>
                <c:pt idx="52">
                  <c:v>0.5554846472527285</c:v>
                </c:pt>
                <c:pt idx="53">
                  <c:v>0.51290662232251583</c:v>
                </c:pt>
                <c:pt idx="54">
                  <c:v>0.49723417795753666</c:v>
                </c:pt>
                <c:pt idx="55">
                  <c:v>0.4679645157758866</c:v>
                </c:pt>
                <c:pt idx="56">
                  <c:v>0.43860059348849617</c:v>
                </c:pt>
                <c:pt idx="57">
                  <c:v>0.43241607614244609</c:v>
                </c:pt>
                <c:pt idx="58">
                  <c:v>0.41412830090977393</c:v>
                </c:pt>
                <c:pt idx="59">
                  <c:v>0.37788901423971638</c:v>
                </c:pt>
                <c:pt idx="60">
                  <c:v>0.39072613056910321</c:v>
                </c:pt>
                <c:pt idx="61">
                  <c:v>0.35025790846208665</c:v>
                </c:pt>
                <c:pt idx="62">
                  <c:v>0.30909027936158523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A18-472B-B53D-8B9DF583AF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53034368"/>
        <c:axId val="1"/>
      </c:scatterChart>
      <c:valAx>
        <c:axId val="1553034368"/>
        <c:scaling>
          <c:orientation val="minMax"/>
          <c:max val="1500"/>
          <c:min val="40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Day Time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crossAx val="1"/>
        <c:crosses val="autoZero"/>
        <c:crossBetween val="midCat"/>
      </c:valAx>
      <c:valAx>
        <c:axId val="1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Relative response</a:t>
                </a:r>
              </a:p>
            </c:rich>
          </c:tx>
          <c:layout>
            <c:manualLayout>
              <c:xMode val="edge"/>
              <c:yMode val="edge"/>
              <c:x val="8.6805555555555559E-3"/>
              <c:y val="0.31795138888888885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3034368"/>
        <c:crosses val="autoZero"/>
        <c:crossBetween val="midCat"/>
      </c:valAx>
      <c:spPr>
        <a:noFill/>
        <a:ln>
          <a:solidFill>
            <a:sysClr val="windowText" lastClr="000000"/>
          </a:solidFill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2400">
          <a:solidFill>
            <a:sysClr val="windowText" lastClr="000000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0F85E2-B21D-436E-866B-0E38A5C88249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225F69-AC74-43C4-A9A5-A023B3F417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576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225F69-AC74-43C4-A9A5-A023B3F4174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7225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 differences can have important implications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225F69-AC74-43C4-A9A5-A023B3F4174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0225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225F69-AC74-43C4-A9A5-A023B3F4174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3358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FF18F-BE75-69D7-B451-DFF3391B6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86E26C-B73A-01F3-E06A-9CBDD674C0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4619FB-1615-5841-FE7D-137BC0661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68ACEC-36C6-3D08-40C3-67CFCC9293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225F69-AC74-43C4-A9A5-A023B3F4174C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55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C67E-8177-4F16-AED7-F342570BD3C6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F3138-7939-4D21-83C4-3A0B86B00A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842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C67E-8177-4F16-AED7-F342570BD3C6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F3138-7939-4D21-83C4-3A0B86B00A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916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C67E-8177-4F16-AED7-F342570BD3C6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F3138-7939-4D21-83C4-3A0B86B00A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212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C67E-8177-4F16-AED7-F342570BD3C6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F3138-7939-4D21-83C4-3A0B86B00A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209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C67E-8177-4F16-AED7-F342570BD3C6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F3138-7939-4D21-83C4-3A0B86B00A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269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C67E-8177-4F16-AED7-F342570BD3C6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F3138-7939-4D21-83C4-3A0B86B00A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385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C67E-8177-4F16-AED7-F342570BD3C6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F3138-7939-4D21-83C4-3A0B86B00A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660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C67E-8177-4F16-AED7-F342570BD3C6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F3138-7939-4D21-83C4-3A0B86B00A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860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C67E-8177-4F16-AED7-F342570BD3C6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F3138-7939-4D21-83C4-3A0B86B00A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734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C67E-8177-4F16-AED7-F342570BD3C6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F3138-7939-4D21-83C4-3A0B86B00A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478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C67E-8177-4F16-AED7-F342570BD3C6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F3138-7939-4D21-83C4-3A0B86B00A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234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22C67E-8177-4F16-AED7-F342570BD3C6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3F3138-7939-4D21-83C4-3A0B86B00A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311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mailto:eelli@uark.edu" TargetMode="External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mailto:eelli@uark.edu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png"/><Relationship Id="rId3" Type="http://schemas.openxmlformats.org/officeDocument/2006/relationships/image" Target="../media/image102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pn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png"/><Relationship Id="rId3" Type="http://schemas.openxmlformats.org/officeDocument/2006/relationships/image" Target="../media/image105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jpg"/><Relationship Id="rId3" Type="http://schemas.openxmlformats.org/officeDocument/2006/relationships/image" Target="../media/image107.png"/><Relationship Id="rId4" Type="http://schemas.openxmlformats.org/officeDocument/2006/relationships/image" Target="../media/image108.png"/><Relationship Id="rId5" Type="http://schemas.openxmlformats.org/officeDocument/2006/relationships/image" Target="../media/image109.png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png"/><Relationship Id="rId3" Type="http://schemas.openxmlformats.org/officeDocument/2006/relationships/image" Target="../media/image111.png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png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png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png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png"/><Relationship Id="rId3" Type="http://schemas.openxmlformats.org/officeDocument/2006/relationships/image" Target="../media/image117.png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png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png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Relationship Id="rId3" Type="http://schemas.openxmlformats.org/officeDocument/2006/relationships/image" Target="../media/image121.png"/><Relationship Id="rId4" Type="http://schemas.openxmlformats.org/officeDocument/2006/relationships/image" Target="../media/image122.png"/><Relationship Id="rId5" Type="http://schemas.openxmlformats.org/officeDocument/2006/relationships/image" Target="../media/image123.png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A115763-A322-CCDE-03B8-C9EAA3E995FD}"/>
              </a:ext>
            </a:extLst>
          </p:cNvPr>
          <p:cNvSpPr txBox="1">
            <a:spLocks/>
          </p:cNvSpPr>
          <p:nvPr/>
        </p:nvSpPr>
        <p:spPr>
          <a:xfrm>
            <a:off x="1" y="6021971"/>
            <a:ext cx="12191999" cy="836019"/>
          </a:xfrm>
          <a:prstGeom prst="rect">
            <a:avLst/>
          </a:prstGeom>
          <a:solidFill>
            <a:srgbClr val="9C2136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06663CD-0D46-2327-E69A-4589B2DAA1DA}"/>
              </a:ext>
            </a:extLst>
          </p:cNvPr>
          <p:cNvSpPr txBox="1">
            <a:spLocks/>
          </p:cNvSpPr>
          <p:nvPr/>
        </p:nvSpPr>
        <p:spPr>
          <a:xfrm>
            <a:off x="0" y="1803166"/>
            <a:ext cx="8122596" cy="14239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>
                <a:solidFill>
                  <a:srgbClr val="9C21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Impact of the limited transpiration trait on soybean potential and water-limited yield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458E5AA-61C1-A496-49CE-578852F9DB9F}"/>
              </a:ext>
            </a:extLst>
          </p:cNvPr>
          <p:cNvCxnSpPr>
            <a:cxnSpLocks/>
          </p:cNvCxnSpPr>
          <p:nvPr/>
        </p:nvCxnSpPr>
        <p:spPr>
          <a:xfrm>
            <a:off x="0" y="3227161"/>
            <a:ext cx="7650480" cy="0"/>
          </a:xfrm>
          <a:prstGeom prst="line">
            <a:avLst/>
          </a:prstGeom>
          <a:ln w="38100">
            <a:solidFill>
              <a:srgbClr val="9C21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101AE8A1-2E93-536A-A92E-CE055D4A4B92}"/>
              </a:ext>
            </a:extLst>
          </p:cNvPr>
          <p:cNvSpPr txBox="1">
            <a:spLocks/>
          </p:cNvSpPr>
          <p:nvPr/>
        </p:nvSpPr>
        <p:spPr>
          <a:xfrm>
            <a:off x="136776" y="3380000"/>
            <a:ext cx="7100000" cy="225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A5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Elvis Elli</a:t>
            </a:r>
            <a:endParaRPr lang="en-US" sz="2400" dirty="0">
              <a:solidFill>
                <a:srgbClr val="A51E3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dirty="0">
                <a:solidFill>
                  <a:srgbClr val="A5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Lucas Romano, Martina Meira, Felix Fritschi, Afsin Soltani, Caio Canella Vieira</a:t>
            </a:r>
          </a:p>
          <a:p>
            <a:r>
              <a:rPr lang="en-US" sz="2200" dirty="0">
                <a:solidFill>
                  <a:srgbClr val="A5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Assistant Professor</a:t>
            </a:r>
          </a:p>
          <a:p>
            <a:r>
              <a:rPr lang="en-US" sz="2200" dirty="0">
                <a:solidFill>
                  <a:srgbClr val="A5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University of Arkansas System Division of Agriculture</a:t>
            </a:r>
          </a:p>
          <a:p>
            <a:r>
              <a:rPr lang="en-US" sz="2200" dirty="0">
                <a:solidFill>
                  <a:srgbClr val="A5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Department of Crop, Soil, and Environmental Sciences</a:t>
            </a:r>
          </a:p>
          <a:p>
            <a:r>
              <a:rPr lang="en-US" sz="2200" dirty="0">
                <a:solidFill>
                  <a:srgbClr val="A51E36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eelli@uark.edu</a:t>
            </a:r>
            <a:endParaRPr lang="en-US" sz="2200" dirty="0">
              <a:solidFill>
                <a:srgbClr val="A51E3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2E4E4F-0BCA-642B-D753-87DC51B84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9" r="3239"/>
          <a:stretch/>
        </p:blipFill>
        <p:spPr bwMode="auto">
          <a:xfrm>
            <a:off x="7381653" y="10"/>
            <a:ext cx="4810347" cy="6857990"/>
          </a:xfrm>
          <a:custGeom>
            <a:avLst/>
            <a:gdLst/>
            <a:ahLst/>
            <a:cxnLst/>
            <a:rect l="l" t="t" r="r" b="b"/>
            <a:pathLst>
              <a:path w="4817171" h="6858000">
                <a:moveTo>
                  <a:pt x="22751" y="0"/>
                </a:moveTo>
                <a:lnTo>
                  <a:pt x="4817171" y="0"/>
                </a:lnTo>
                <a:lnTo>
                  <a:pt x="4817171" y="6858000"/>
                </a:lnTo>
                <a:lnTo>
                  <a:pt x="0" y="6858000"/>
                </a:lnTo>
                <a:lnTo>
                  <a:pt x="6679" y="6845555"/>
                </a:lnTo>
                <a:cubicBezTo>
                  <a:pt x="496584" y="5886487"/>
                  <a:pt x="786702" y="4695963"/>
                  <a:pt x="786702" y="3406233"/>
                </a:cubicBezTo>
                <a:cubicBezTo>
                  <a:pt x="786702" y="2215714"/>
                  <a:pt x="539501" y="1109724"/>
                  <a:pt x="116147" y="192283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4" name="Picture 23" descr="A logo with white text&#10;&#10;Description automatically generated">
            <a:extLst>
              <a:ext uri="{FF2B5EF4-FFF2-40B4-BE49-F238E27FC236}">
                <a16:creationId xmlns:a16="http://schemas.microsoft.com/office/drawing/2014/main" id="{96C7E2D9-0DDC-7044-5932-E50B84582EC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1"/>
          <a:stretch/>
        </p:blipFill>
        <p:spPr>
          <a:xfrm>
            <a:off x="99352" y="6073007"/>
            <a:ext cx="983813" cy="722867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9CF74095-03C4-E03F-F18D-8DEB906B03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776" y="62126"/>
            <a:ext cx="1892778" cy="998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EFDEB80-D752-1C76-B233-AF64F9EEBF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62" b="27167"/>
          <a:stretch>
            <a:fillRect/>
          </a:stretch>
        </p:blipFill>
        <p:spPr bwMode="auto">
          <a:xfrm>
            <a:off x="2204120" y="249095"/>
            <a:ext cx="2606228" cy="659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1825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6005E-2ACD-91D9-85EC-87A5BA9C1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3C6BD5D1-8D3C-5DC2-904E-1380B87C1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927" y="965595"/>
            <a:ext cx="8005492" cy="533736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8E487F8-0F08-37A3-4680-524A11D7A706}"/>
              </a:ext>
            </a:extLst>
          </p:cNvPr>
          <p:cNvSpPr txBox="1"/>
          <p:nvPr/>
        </p:nvSpPr>
        <p:spPr>
          <a:xfrm>
            <a:off x="119100" y="41492"/>
            <a:ext cx="110605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A61E36"/>
                </a:solidFill>
              </a:rPr>
              <a:t>Adapting Soybeans to drought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88D7D5-57DE-0002-7FB2-0EB0DC389462}"/>
              </a:ext>
            </a:extLst>
          </p:cNvPr>
          <p:cNvSpPr txBox="1"/>
          <p:nvPr/>
        </p:nvSpPr>
        <p:spPr>
          <a:xfrm>
            <a:off x="8198775" y="6487160"/>
            <a:ext cx="39932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Adapted from van Ittersum et al. (2013)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B98720D-E63A-7A25-A9A4-1BB8EF2A7A4A}"/>
              </a:ext>
            </a:extLst>
          </p:cNvPr>
          <p:cNvCxnSpPr>
            <a:cxnSpLocks/>
          </p:cNvCxnSpPr>
          <p:nvPr/>
        </p:nvCxnSpPr>
        <p:spPr>
          <a:xfrm flipV="1">
            <a:off x="2722419" y="781396"/>
            <a:ext cx="0" cy="100999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973829A-ED74-3CBE-DB01-6265592F088B}"/>
              </a:ext>
            </a:extLst>
          </p:cNvPr>
          <p:cNvSpPr txBox="1"/>
          <p:nvPr/>
        </p:nvSpPr>
        <p:spPr>
          <a:xfrm>
            <a:off x="2722419" y="1101728"/>
            <a:ext cx="4863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Enhancing yield potential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C150B6D-F0BF-FC79-E205-A1F45F9505F2}"/>
              </a:ext>
            </a:extLst>
          </p:cNvPr>
          <p:cNvCxnSpPr>
            <a:cxnSpLocks/>
          </p:cNvCxnSpPr>
          <p:nvPr/>
        </p:nvCxnSpPr>
        <p:spPr>
          <a:xfrm>
            <a:off x="5228706" y="1890937"/>
            <a:ext cx="0" cy="114300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421D5C2-57D5-86A6-6C44-5F129DA11BCE}"/>
              </a:ext>
            </a:extLst>
          </p:cNvPr>
          <p:cNvSpPr txBox="1"/>
          <p:nvPr/>
        </p:nvSpPr>
        <p:spPr>
          <a:xfrm>
            <a:off x="5228707" y="2156541"/>
            <a:ext cx="28619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Optimizing/reducing seasonal water use</a:t>
            </a:r>
          </a:p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078F739-B00C-9FFE-9117-CD43C391FBD0}"/>
              </a:ext>
            </a:extLst>
          </p:cNvPr>
          <p:cNvCxnSpPr>
            <a:cxnSpLocks/>
          </p:cNvCxnSpPr>
          <p:nvPr/>
        </p:nvCxnSpPr>
        <p:spPr>
          <a:xfrm>
            <a:off x="2709333" y="1849967"/>
            <a:ext cx="6798734" cy="0"/>
          </a:xfrm>
          <a:prstGeom prst="line">
            <a:avLst/>
          </a:prstGeom>
          <a:ln w="3810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5A92E8B1-D4B8-B1D6-CEE9-7B80F40D968F}"/>
              </a:ext>
            </a:extLst>
          </p:cNvPr>
          <p:cNvGrpSpPr/>
          <p:nvPr/>
        </p:nvGrpSpPr>
        <p:grpSpPr>
          <a:xfrm>
            <a:off x="5649386" y="679424"/>
            <a:ext cx="5025393" cy="923345"/>
            <a:chOff x="6238988" y="372850"/>
            <a:chExt cx="5025393" cy="92334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C729F33-D169-0B0F-7C48-1A313C7C4F3B}"/>
                </a:ext>
              </a:extLst>
            </p:cNvPr>
            <p:cNvSpPr txBox="1"/>
            <p:nvPr/>
          </p:nvSpPr>
          <p:spPr>
            <a:xfrm>
              <a:off x="7127179" y="547956"/>
              <a:ext cx="3505153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rgbClr val="0070C0"/>
                  </a:solidFill>
                </a:rPr>
                <a:t>Water use efficiency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21EF542-487F-FB3F-6A04-C42066E57C0D}"/>
                </a:ext>
              </a:extLst>
            </p:cNvPr>
            <p:cNvSpPr/>
            <p:nvPr/>
          </p:nvSpPr>
          <p:spPr>
            <a:xfrm>
              <a:off x="6238988" y="372850"/>
              <a:ext cx="5025393" cy="923345"/>
            </a:xfrm>
            <a:prstGeom prst="ellipse">
              <a:avLst/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36423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4E74FB-54FE-3B95-D089-1D1685B9C9CD}"/>
              </a:ext>
            </a:extLst>
          </p:cNvPr>
          <p:cNvSpPr txBox="1"/>
          <p:nvPr/>
        </p:nvSpPr>
        <p:spPr>
          <a:xfrm>
            <a:off x="241300" y="176556"/>
            <a:ext cx="120825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A61E36"/>
                </a:solidFill>
              </a:rPr>
              <a:t>The limited transpiration (LT) trait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0907C2B-80C7-C698-8F55-064CCC865552}"/>
              </a:ext>
            </a:extLst>
          </p:cNvPr>
          <p:cNvGrpSpPr/>
          <p:nvPr/>
        </p:nvGrpSpPr>
        <p:grpSpPr>
          <a:xfrm>
            <a:off x="324181" y="1589963"/>
            <a:ext cx="6369931" cy="4509832"/>
            <a:chOff x="2678275" y="1375954"/>
            <a:chExt cx="6369931" cy="450983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00DA9B6-A4E1-2536-477D-60A6CE27CCB4}"/>
                </a:ext>
              </a:extLst>
            </p:cNvPr>
            <p:cNvCxnSpPr>
              <a:cxnSpLocks/>
            </p:cNvCxnSpPr>
            <p:nvPr/>
          </p:nvCxnSpPr>
          <p:spPr>
            <a:xfrm>
              <a:off x="3329577" y="1600200"/>
              <a:ext cx="0" cy="36576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106E33A-B884-631D-1058-7BD677D9190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25223" y="5248366"/>
              <a:ext cx="54864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FD8324C-0E8A-41D8-F9D6-A1F5E11014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25520" y="1798517"/>
              <a:ext cx="4482012" cy="313905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D03492-C416-17B0-688B-C7C6D1D9FD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6484" y="3283376"/>
              <a:ext cx="2518229" cy="1725749"/>
            </a:xfrm>
            <a:prstGeom prst="line">
              <a:avLst/>
            </a:prstGeom>
            <a:ln w="38100">
              <a:solidFill>
                <a:srgbClr val="01857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1EA1C3A-FA37-EBB6-3556-FFEBAC4505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9894" y="3266929"/>
              <a:ext cx="1911531" cy="22495"/>
            </a:xfrm>
            <a:prstGeom prst="line">
              <a:avLst/>
            </a:prstGeom>
            <a:ln w="38100">
              <a:solidFill>
                <a:srgbClr val="01857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7EA07E4-C90F-D7CD-6856-58245DAF95BC}"/>
                </a:ext>
              </a:extLst>
            </p:cNvPr>
            <p:cNvCxnSpPr>
              <a:cxnSpLocks/>
            </p:cNvCxnSpPr>
            <p:nvPr/>
          </p:nvCxnSpPr>
          <p:spPr>
            <a:xfrm>
              <a:off x="8895806" y="5257800"/>
              <a:ext cx="152400" cy="0"/>
            </a:xfrm>
            <a:prstGeom prst="straightConnector1">
              <a:avLst/>
            </a:prstGeom>
            <a:ln w="793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8352589-8CC3-1BEC-7239-B631EE15ED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25223" y="1375954"/>
              <a:ext cx="0" cy="71847"/>
            </a:xfrm>
            <a:prstGeom prst="straightConnector1">
              <a:avLst/>
            </a:prstGeom>
            <a:ln w="793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itle 1">
              <a:extLst>
                <a:ext uri="{FF2B5EF4-FFF2-40B4-BE49-F238E27FC236}">
                  <a16:creationId xmlns:a16="http://schemas.microsoft.com/office/drawing/2014/main" id="{D176F7C2-8007-3D90-4780-704AE0DFA1E3}"/>
                </a:ext>
              </a:extLst>
            </p:cNvPr>
            <p:cNvSpPr txBox="1">
              <a:spLocks/>
            </p:cNvSpPr>
            <p:nvPr/>
          </p:nvSpPr>
          <p:spPr>
            <a:xfrm>
              <a:off x="3325216" y="5259253"/>
              <a:ext cx="5486400" cy="62653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Vapor Pressure Deficit -VPD</a:t>
              </a:r>
            </a:p>
          </p:txBody>
        </p:sp>
        <p:sp>
          <p:nvSpPr>
            <p:cNvPr id="35" name="Title 1">
              <a:extLst>
                <a:ext uri="{FF2B5EF4-FFF2-40B4-BE49-F238E27FC236}">
                  <a16:creationId xmlns:a16="http://schemas.microsoft.com/office/drawing/2014/main" id="{CE5A1897-D672-7859-AC50-6F84866F2210}"/>
                </a:ext>
              </a:extLst>
            </p:cNvPr>
            <p:cNvSpPr txBox="1">
              <a:spLocks/>
            </p:cNvSpPr>
            <p:nvPr/>
          </p:nvSpPr>
          <p:spPr>
            <a:xfrm rot="16200000">
              <a:off x="1162744" y="3115735"/>
              <a:ext cx="3657596" cy="62653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Plant transpiration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F80DBD7A-92B2-B2CB-5BB5-5D327FD0A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4243" y="2012526"/>
            <a:ext cx="4505104" cy="337264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A5BC228D-11CF-08BB-14E6-7908CA49CACB}"/>
              </a:ext>
            </a:extLst>
          </p:cNvPr>
          <p:cNvSpPr txBox="1"/>
          <p:nvPr/>
        </p:nvSpPr>
        <p:spPr>
          <a:xfrm>
            <a:off x="7310671" y="6550639"/>
            <a:ext cx="47777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Yu et al. (2024), Fletcher et al. (2007)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A9DBD2-6D1A-2AA6-1DF4-9048C07330C6}"/>
              </a:ext>
            </a:extLst>
          </p:cNvPr>
          <p:cNvSpPr txBox="1"/>
          <p:nvPr/>
        </p:nvSpPr>
        <p:spPr>
          <a:xfrm>
            <a:off x="4845975" y="6281434"/>
            <a:ext cx="39932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Adapted from van Ittersum et al. (2013)</a:t>
            </a:r>
          </a:p>
        </p:txBody>
      </p:sp>
    </p:spTree>
    <p:extLst>
      <p:ext uri="{BB962C8B-B14F-4D97-AF65-F5344CB8AC3E}">
        <p14:creationId xmlns:p14="http://schemas.microsoft.com/office/powerpoint/2010/main" val="2398205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AFE6A-C7E9-9385-376E-C35A5BD6C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CF8769-6F3A-FA1A-E5EC-073D3F83E51C}"/>
              </a:ext>
            </a:extLst>
          </p:cNvPr>
          <p:cNvSpPr txBox="1"/>
          <p:nvPr/>
        </p:nvSpPr>
        <p:spPr>
          <a:xfrm>
            <a:off x="6544240" y="667256"/>
            <a:ext cx="4790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70C0"/>
                </a:solidFill>
              </a:rPr>
              <a:t>Limited transpiration trait</a:t>
            </a:r>
            <a:endParaRPr lang="en-US" sz="3600" dirty="0">
              <a:solidFill>
                <a:srgbClr val="0070C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3D9A79-BE0D-B9C7-A819-7FC6A4E3C787}"/>
              </a:ext>
            </a:extLst>
          </p:cNvPr>
          <p:cNvGrpSpPr>
            <a:grpSpLocks/>
          </p:cNvGrpSpPr>
          <p:nvPr/>
        </p:nvGrpSpPr>
        <p:grpSpPr bwMode="auto">
          <a:xfrm>
            <a:off x="294569" y="1239440"/>
            <a:ext cx="5486400" cy="5486400"/>
            <a:chOff x="0" y="2268"/>
            <a:chExt cx="7315200" cy="7315200"/>
          </a:xfrm>
        </p:grpSpPr>
        <p:graphicFrame>
          <p:nvGraphicFramePr>
            <p:cNvPr id="16" name="Chart 15">
              <a:extLst>
                <a:ext uri="{FF2B5EF4-FFF2-40B4-BE49-F238E27FC236}">
                  <a16:creationId xmlns:a16="http://schemas.microsoft.com/office/drawing/2014/main" id="{AE8D7E6F-583D-A5F3-BC86-04B87DA6F273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0" y="2268"/>
            <a:ext cx="7315200" cy="7315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932C5FBB-94C2-E6E6-421D-52CE494CEA4D}"/>
                </a:ext>
              </a:extLst>
            </p:cNvPr>
            <p:cNvSpPr txBox="1"/>
            <p:nvPr/>
          </p:nvSpPr>
          <p:spPr>
            <a:xfrm>
              <a:off x="760307" y="434068"/>
              <a:ext cx="6394027" cy="368300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b="0" kern="1200" dirty="0">
                  <a:solidFill>
                    <a:srgbClr val="FF0000"/>
                  </a:solidFill>
                </a:rPr>
                <a:t>VPD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5DBB6A-4881-30AE-6837-D0C2B1A17DF7}"/>
              </a:ext>
            </a:extLst>
          </p:cNvPr>
          <p:cNvGrpSpPr>
            <a:grpSpLocks/>
          </p:cNvGrpSpPr>
          <p:nvPr/>
        </p:nvGrpSpPr>
        <p:grpSpPr bwMode="auto">
          <a:xfrm>
            <a:off x="5996869" y="1237172"/>
            <a:ext cx="5486400" cy="5480050"/>
            <a:chOff x="5702300" y="0"/>
            <a:chExt cx="7315200" cy="7315200"/>
          </a:xfrm>
        </p:grpSpPr>
        <p:graphicFrame>
          <p:nvGraphicFramePr>
            <p:cNvPr id="13" name="Chart 12">
              <a:extLst>
                <a:ext uri="{FF2B5EF4-FFF2-40B4-BE49-F238E27FC236}">
                  <a16:creationId xmlns:a16="http://schemas.microsoft.com/office/drawing/2014/main" id="{E6121820-34DB-717B-1501-19EA3023D68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702300" y="0"/>
            <a:ext cx="7315200" cy="7315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4668525D-8A2F-2AF6-B924-854406D271E9}"/>
                </a:ext>
              </a:extLst>
            </p:cNvPr>
            <p:cNvSpPr txBox="1"/>
            <p:nvPr/>
          </p:nvSpPr>
          <p:spPr>
            <a:xfrm>
              <a:off x="6432127" y="252417"/>
              <a:ext cx="6387253" cy="657775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b="0" kern="1200" dirty="0">
                  <a:solidFill>
                    <a:srgbClr val="0070C0"/>
                  </a:solidFill>
                </a:rPr>
                <a:t>Transpiration</a:t>
              </a:r>
            </a:p>
          </p:txBody>
        </p: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4A1FF58-3061-C4D9-AB3E-6E0523582D58}"/>
              </a:ext>
            </a:extLst>
          </p:cNvPr>
          <p:cNvCxnSpPr>
            <a:cxnSpLocks/>
          </p:cNvCxnSpPr>
          <p:nvPr/>
        </p:nvCxnSpPr>
        <p:spPr>
          <a:xfrm>
            <a:off x="864799" y="2889306"/>
            <a:ext cx="4754880" cy="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CCF1D94F-7BCF-EC58-12A6-E53DF1C64ACC}"/>
              </a:ext>
            </a:extLst>
          </p:cNvPr>
          <p:cNvSpPr/>
          <p:nvPr/>
        </p:nvSpPr>
        <p:spPr>
          <a:xfrm>
            <a:off x="7997519" y="2267495"/>
            <a:ext cx="1796164" cy="6156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C98591-3571-E2EB-E57D-2DBB0420FA20}"/>
              </a:ext>
            </a:extLst>
          </p:cNvPr>
          <p:cNvCxnSpPr>
            <a:cxnSpLocks/>
          </p:cNvCxnSpPr>
          <p:nvPr/>
        </p:nvCxnSpPr>
        <p:spPr>
          <a:xfrm>
            <a:off x="8102529" y="2894386"/>
            <a:ext cx="1645920" cy="0"/>
          </a:xfrm>
          <a:prstGeom prst="line">
            <a:avLst/>
          </a:prstGeom>
          <a:ln w="38100"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E7B30E9-2F3E-FC80-71B1-7D9BD8BAEF64}"/>
              </a:ext>
            </a:extLst>
          </p:cNvPr>
          <p:cNvSpPr/>
          <p:nvPr/>
        </p:nvSpPr>
        <p:spPr>
          <a:xfrm>
            <a:off x="8116962" y="2478373"/>
            <a:ext cx="1590675" cy="409575"/>
          </a:xfrm>
          <a:custGeom>
            <a:avLst/>
            <a:gdLst>
              <a:gd name="connsiteX0" fmla="*/ 0 w 1590675"/>
              <a:gd name="connsiteY0" fmla="*/ 381000 h 409575"/>
              <a:gd name="connsiteX1" fmla="*/ 195262 w 1590675"/>
              <a:gd name="connsiteY1" fmla="*/ 219075 h 409575"/>
              <a:gd name="connsiteX2" fmla="*/ 423862 w 1590675"/>
              <a:gd name="connsiteY2" fmla="*/ 80962 h 409575"/>
              <a:gd name="connsiteX3" fmla="*/ 614362 w 1590675"/>
              <a:gd name="connsiteY3" fmla="*/ 14287 h 409575"/>
              <a:gd name="connsiteX4" fmla="*/ 804862 w 1590675"/>
              <a:gd name="connsiteY4" fmla="*/ 0 h 409575"/>
              <a:gd name="connsiteX5" fmla="*/ 1081087 w 1590675"/>
              <a:gd name="connsiteY5" fmla="*/ 47625 h 409575"/>
              <a:gd name="connsiteX6" fmla="*/ 1257300 w 1590675"/>
              <a:gd name="connsiteY6" fmla="*/ 147637 h 409575"/>
              <a:gd name="connsiteX7" fmla="*/ 1438275 w 1590675"/>
              <a:gd name="connsiteY7" fmla="*/ 261937 h 409575"/>
              <a:gd name="connsiteX8" fmla="*/ 1590675 w 1590675"/>
              <a:gd name="connsiteY8" fmla="*/ 409575 h 409575"/>
              <a:gd name="connsiteX9" fmla="*/ 0 w 1590675"/>
              <a:gd name="connsiteY9" fmla="*/ 381000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90675" h="409575">
                <a:moveTo>
                  <a:pt x="0" y="381000"/>
                </a:moveTo>
                <a:lnTo>
                  <a:pt x="195262" y="219075"/>
                </a:lnTo>
                <a:lnTo>
                  <a:pt x="423862" y="80962"/>
                </a:lnTo>
                <a:lnTo>
                  <a:pt x="614362" y="14287"/>
                </a:lnTo>
                <a:lnTo>
                  <a:pt x="804862" y="0"/>
                </a:lnTo>
                <a:lnTo>
                  <a:pt x="1081087" y="47625"/>
                </a:lnTo>
                <a:lnTo>
                  <a:pt x="1257300" y="147637"/>
                </a:lnTo>
                <a:lnTo>
                  <a:pt x="1438275" y="261937"/>
                </a:lnTo>
                <a:lnTo>
                  <a:pt x="1590675" y="409575"/>
                </a:lnTo>
                <a:lnTo>
                  <a:pt x="0" y="381000"/>
                </a:lnTo>
                <a:close/>
              </a:path>
            </a:pathLst>
          </a:custGeom>
          <a:solidFill>
            <a:srgbClr val="BDD7EE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9D17C1-1A10-128F-6F2F-64E1FB812240}"/>
              </a:ext>
            </a:extLst>
          </p:cNvPr>
          <p:cNvSpPr txBox="1"/>
          <p:nvPr/>
        </p:nvSpPr>
        <p:spPr>
          <a:xfrm>
            <a:off x="605123" y="667256"/>
            <a:ext cx="52431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Non-limited transpiration trait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4156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people standing in a field&#10;&#10;AI-generated content may be incorrect.">
            <a:extLst>
              <a:ext uri="{FF2B5EF4-FFF2-40B4-BE49-F238E27FC236}">
                <a16:creationId xmlns:a16="http://schemas.microsoft.com/office/drawing/2014/main" id="{ED9DF95C-BC21-B98D-BDBD-AB17005B25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28"/>
            <a:ext cx="10233212" cy="682546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A52D917-AAC8-AA32-D1AA-4EB0534BB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1832" y="2850645"/>
            <a:ext cx="1903276" cy="1248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8707FEA-A6BF-D0A5-1A5E-2A0BC1E89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2868" y="1800346"/>
            <a:ext cx="1903276" cy="1004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43276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868EC-CEA5-1B09-2569-92578F5AC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2A49DA7-E7A4-4606-6D1B-CBFF57E7F265}"/>
              </a:ext>
            </a:extLst>
          </p:cNvPr>
          <p:cNvSpPr txBox="1">
            <a:spLocks/>
          </p:cNvSpPr>
          <p:nvPr/>
        </p:nvSpPr>
        <p:spPr>
          <a:xfrm>
            <a:off x="1" y="6021971"/>
            <a:ext cx="12191999" cy="836019"/>
          </a:xfrm>
          <a:prstGeom prst="rect">
            <a:avLst/>
          </a:prstGeom>
          <a:solidFill>
            <a:srgbClr val="9C2136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7FF587A-F39C-E3D2-5DB1-FCFC2FDFDEDB}"/>
              </a:ext>
            </a:extLst>
          </p:cNvPr>
          <p:cNvCxnSpPr>
            <a:cxnSpLocks/>
          </p:cNvCxnSpPr>
          <p:nvPr/>
        </p:nvCxnSpPr>
        <p:spPr>
          <a:xfrm>
            <a:off x="0" y="3227161"/>
            <a:ext cx="7650480" cy="0"/>
          </a:xfrm>
          <a:prstGeom prst="line">
            <a:avLst/>
          </a:prstGeom>
          <a:ln w="38100">
            <a:solidFill>
              <a:srgbClr val="9C21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C9358834-D24F-AF02-0591-A399BC58EA1E}"/>
              </a:ext>
            </a:extLst>
          </p:cNvPr>
          <p:cNvSpPr txBox="1">
            <a:spLocks/>
          </p:cNvSpPr>
          <p:nvPr/>
        </p:nvSpPr>
        <p:spPr>
          <a:xfrm>
            <a:off x="136776" y="3429000"/>
            <a:ext cx="6877110" cy="16981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A5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Elvis Elli</a:t>
            </a:r>
            <a:endParaRPr lang="en-US" sz="2400" dirty="0">
              <a:solidFill>
                <a:srgbClr val="A51E3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200" dirty="0">
                <a:solidFill>
                  <a:srgbClr val="A5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Assistant Professor</a:t>
            </a:r>
          </a:p>
          <a:p>
            <a:r>
              <a:rPr lang="en-US" sz="2200" dirty="0">
                <a:solidFill>
                  <a:srgbClr val="A5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University of Arkansas System Division of Agriculture</a:t>
            </a:r>
          </a:p>
          <a:p>
            <a:r>
              <a:rPr lang="en-US" sz="2200" dirty="0">
                <a:solidFill>
                  <a:srgbClr val="A5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Department of Crop, Soil, and Environmental Sciences</a:t>
            </a:r>
          </a:p>
          <a:p>
            <a:r>
              <a:rPr lang="en-US" sz="2200" dirty="0">
                <a:solidFill>
                  <a:srgbClr val="A51E36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eelli@uark.edu</a:t>
            </a:r>
            <a:endParaRPr lang="en-US" sz="2200" dirty="0">
              <a:solidFill>
                <a:srgbClr val="A51E3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BFA41F-7C6A-78A0-52AD-82ADEB2FEF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9" r="3239"/>
          <a:stretch/>
        </p:blipFill>
        <p:spPr bwMode="auto">
          <a:xfrm>
            <a:off x="7381653" y="10"/>
            <a:ext cx="4810347" cy="6857990"/>
          </a:xfrm>
          <a:custGeom>
            <a:avLst/>
            <a:gdLst/>
            <a:ahLst/>
            <a:cxnLst/>
            <a:rect l="l" t="t" r="r" b="b"/>
            <a:pathLst>
              <a:path w="4817171" h="6858000">
                <a:moveTo>
                  <a:pt x="22751" y="0"/>
                </a:moveTo>
                <a:lnTo>
                  <a:pt x="4817171" y="0"/>
                </a:lnTo>
                <a:lnTo>
                  <a:pt x="4817171" y="6858000"/>
                </a:lnTo>
                <a:lnTo>
                  <a:pt x="0" y="6858000"/>
                </a:lnTo>
                <a:lnTo>
                  <a:pt x="6679" y="6845555"/>
                </a:lnTo>
                <a:cubicBezTo>
                  <a:pt x="496584" y="5886487"/>
                  <a:pt x="786702" y="4695963"/>
                  <a:pt x="786702" y="3406233"/>
                </a:cubicBezTo>
                <a:cubicBezTo>
                  <a:pt x="786702" y="2215714"/>
                  <a:pt x="539501" y="1109724"/>
                  <a:pt x="116147" y="192283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4" name="Picture 23" descr="A logo with white text&#10;&#10;Description automatically generated">
            <a:extLst>
              <a:ext uri="{FF2B5EF4-FFF2-40B4-BE49-F238E27FC236}">
                <a16:creationId xmlns:a16="http://schemas.microsoft.com/office/drawing/2014/main" id="{5823EE3D-ECEE-CD7C-1AF6-60494C25E6D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1"/>
          <a:stretch/>
        </p:blipFill>
        <p:spPr>
          <a:xfrm>
            <a:off x="91952" y="6029163"/>
            <a:ext cx="983813" cy="7228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126F39-0395-EE3F-E298-3FA3F69A7296}"/>
              </a:ext>
            </a:extLst>
          </p:cNvPr>
          <p:cNvSpPr txBox="1">
            <a:spLocks/>
          </p:cNvSpPr>
          <p:nvPr/>
        </p:nvSpPr>
        <p:spPr>
          <a:xfrm>
            <a:off x="83381" y="244698"/>
            <a:ext cx="7483718" cy="6121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Thank you!!!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B577A29-41FA-C2BD-CA16-E575C37263A2}"/>
              </a:ext>
            </a:extLst>
          </p:cNvPr>
          <p:cNvSpPr txBox="1">
            <a:spLocks/>
          </p:cNvSpPr>
          <p:nvPr/>
        </p:nvSpPr>
        <p:spPr>
          <a:xfrm>
            <a:off x="0" y="1803166"/>
            <a:ext cx="8122596" cy="14239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>
                <a:solidFill>
                  <a:srgbClr val="9C21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Impact of the limited transpiration trait on soybean potential and water-limited yield</a:t>
            </a:r>
          </a:p>
        </p:txBody>
      </p:sp>
    </p:spTree>
    <p:extLst>
      <p:ext uri="{BB962C8B-B14F-4D97-AF65-F5344CB8AC3E}">
        <p14:creationId xmlns:p14="http://schemas.microsoft.com/office/powerpoint/2010/main" val="4064041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448056" y="128016"/>
            <a:ext cx="11292840" cy="5852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Atmospheric demand on soybean is rising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5760720" cy="3200400"/>
          </a:xfrm>
          <a:prstGeom prst="rect">
            <a:avLst/>
          </a:prstGeom>
        </p:spPr>
      </p:pic>
      <p:sp>
        <p:nvSpPr>
          <p:cNvPr id="5" name="Caption 5"/>
          <p:cNvSpPr txBox="1"/>
          <p:nvPr/>
        </p:nvSpPr>
        <p:spPr>
          <a:xfrm>
            <a:off x="457200" y="4206240"/>
            <a:ext cx="576072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200" i="1" dirty="0">
                <a:solidFill>
                  <a:srgbClr val="6B6B6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July mean VPD in Arkansas, UKESM1-0-LL model, SSP3-7.0 scenario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171042"/>
            <a:ext cx="5303520" cy="2687117"/>
          </a:xfrm>
          <a:prstGeom prst="rect">
            <a:avLst/>
          </a:prstGeom>
        </p:spPr>
      </p:pic>
      <p:sp>
        <p:nvSpPr>
          <p:cNvPr id="7" name="Caption 7"/>
          <p:cNvSpPr txBox="1"/>
          <p:nvPr/>
        </p:nvSpPr>
        <p:spPr>
          <a:xfrm>
            <a:off x="6492240" y="402336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200" i="1" dirty="0">
                <a:solidFill>
                  <a:srgbClr val="6B6B6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Hours per day above 2 kPa, 10 sites in Arkansas, Missouri and Nebraska</a:t>
            </a:r>
          </a:p>
        </p:txBody>
      </p:sp>
      <p:sp>
        <p:nvSpPr>
          <p:cNvPr id="8" name="Card 8"/>
          <p:cNvSpPr txBox="1"/>
          <p:nvPr/>
        </p:nvSpPr>
        <p:spPr>
          <a:xfrm>
            <a:off x="457200" y="4800600"/>
            <a:ext cx="5760720" cy="1508760"/>
          </a:xfrm>
          <a:prstGeom prst="roundRect">
            <a:avLst>
              <a:gd name="adj" fmla="val 6000"/>
            </a:avLst>
          </a:prstGeom>
          <a:solidFill>
            <a:srgbClr val="F7EEF0"/>
          </a:solidFill>
          <a:ln>
            <a:noFill/>
          </a:ln>
        </p:spPr>
        <p:txBody>
          <a:bodyPr wrap="square" lIns="164592" tIns="109728" rIns="164592" bIns="109728" rtlCol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+0.8% per year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Projected increase in July VPD through 2100: more hours of high evaporative demand each season</a:t>
            </a:r>
          </a:p>
        </p:txBody>
      </p:sp>
      <p:sp>
        <p:nvSpPr>
          <p:cNvPr id="9" name="Card 9"/>
          <p:cNvSpPr txBox="1"/>
          <p:nvPr/>
        </p:nvSpPr>
        <p:spPr>
          <a:xfrm>
            <a:off x="6492240" y="4800600"/>
            <a:ext cx="5303520" cy="1508760"/>
          </a:xfrm>
          <a:prstGeom prst="roundRect">
            <a:avLst>
              <a:gd name="adj" fmla="val 6000"/>
            </a:avLst>
          </a:prstGeom>
          <a:solidFill>
            <a:srgbClr val="F7EEF0"/>
          </a:solidFill>
          <a:ln>
            <a:noFill/>
          </a:ln>
        </p:spPr>
        <p:txBody>
          <a:bodyPr wrap="square" lIns="164592" tIns="109728" rIns="164592" bIns="109728" rtlCol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Why it matters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genotypes respond to VPD is the basis for strategies that optimize seasonal water use and raise water use efficiency (WUE)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448056" y="128016"/>
            <a:ext cx="11292840" cy="5852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Hypothesis: WUE plasticity is a signature of the LT trait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7200" y="1051560"/>
            <a:ext cx="5852160" cy="17373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Chamarthi et al. (2022)</a:t>
            </a:r>
            <a:r>
              <a:rPr lang="en-US" sz="18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classified soybean accessions by the plasticity of intrinsic WUE across environments, inferred from carbon isotope discrimination</a:t>
            </a:r>
          </a:p>
        </p:txBody>
      </p:sp>
      <p:sp>
        <p:nvSpPr>
          <p:cNvPr id="5" name="Card 5"/>
          <p:cNvSpPr txBox="1"/>
          <p:nvPr/>
        </p:nvSpPr>
        <p:spPr>
          <a:xfrm>
            <a:off x="457200" y="2880360"/>
            <a:ext cx="5852160" cy="1417320"/>
          </a:xfrm>
          <a:prstGeom prst="roundRect">
            <a:avLst>
              <a:gd name="adj" fmla="val 6000"/>
            </a:avLst>
          </a:prstGeom>
          <a:solidFill>
            <a:srgbClr val="F7EEF0"/>
          </a:solidFill>
          <a:ln>
            <a:noFill/>
          </a:ln>
        </p:spPr>
        <p:txBody>
          <a:bodyPr wrap="square" lIns="164592" tIns="109728" rIns="164592" bIns="109728" rtlCol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Plastic, high WUE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WUE rises with evaporative demand: expected to limit transpiration under high VPD</a:t>
            </a:r>
          </a:p>
        </p:txBody>
      </p:sp>
      <p:sp>
        <p:nvSpPr>
          <p:cNvPr id="6" name="Card 6"/>
          <p:cNvSpPr txBox="1"/>
          <p:nvPr/>
        </p:nvSpPr>
        <p:spPr>
          <a:xfrm>
            <a:off x="457200" y="4480560"/>
            <a:ext cx="5852160" cy="14173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164592" tIns="109728" rIns="164592" bIns="109728" rtlCol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Nonplastic, low WUE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WUE stays flat across environments: expected to keep transpiring as VPD increases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153973"/>
            <a:ext cx="5120640" cy="4184294"/>
          </a:xfrm>
          <a:prstGeom prst="rect">
            <a:avLst/>
          </a:prstGeom>
        </p:spPr>
      </p:pic>
      <p:sp>
        <p:nvSpPr>
          <p:cNvPr id="8" name="Caption 8"/>
          <p:cNvSpPr txBox="1"/>
          <p:nvPr/>
        </p:nvSpPr>
        <p:spPr>
          <a:xfrm>
            <a:off x="6675120" y="55778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200" i="1" dirty="0">
                <a:solidFill>
                  <a:srgbClr val="6B6B6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Expected relationship between WUE plasticity and the limited transpiration (LT) response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448056" y="128016"/>
            <a:ext cx="11292840" cy="5852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Objectives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1143000" cy="1143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920240" y="1508760"/>
            <a:ext cx="9692640" cy="1234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sz="32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Identify genotypes with the LT trait among accessions differing in WUE plasticity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0"/>
            <a:ext cx="1143000" cy="11430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920240" y="3611880"/>
            <a:ext cx="9692640" cy="1234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sz="32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Quantify the yield impact and trade-offs of the LT trait across the US Mid-South and Mid-West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448056" y="128016"/>
            <a:ext cx="11292840" cy="5852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Material and Methods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457200" y="914400"/>
            <a:ext cx="11292840" cy="2514600"/>
          </a:xfrm>
          <a:prstGeom prst="roundRect">
            <a:avLst>
              <a:gd name="adj" fmla="val 5000"/>
            </a:avLst>
          </a:prstGeom>
          <a:solidFill>
            <a:srgbClr val="EAF4F7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4360" y="96012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6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Objective 1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45" y="1371600"/>
            <a:ext cx="1474470" cy="196596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213" y="1188720"/>
            <a:ext cx="2831093" cy="214884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5394960" y="1005840"/>
            <a:ext cx="6263640" cy="2377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Controlled-environment experiment</a:t>
            </a:r>
          </a:p>
          <a:p>
            <a:pPr algn="l" marL="285750" indent="-285750">
              <a:lnSpc>
                <a:spcPct val="100000"/>
              </a:lnSpc>
              <a:spcAft>
                <a:spcPts val="200"/>
              </a:spcAft>
              <a:buClr>
                <a:srgbClr val="A61E36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14 soybean MG IV accessions: 5 plastic / high WUE, 4 nonplastic / low WUE, slow- and high-wilting checks, 1 MAGIC parent</a:t>
            </a:r>
          </a:p>
          <a:p>
            <a:pPr algn="l" marL="285750" indent="-285750">
              <a:spcAft>
                <a:spcPts val="200"/>
              </a:spcAft>
              <a:buClr>
                <a:srgbClr val="A61E36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Stepwise VPD from 1.0 to 3.5 kPa at constant temperature, 5 replications (Dec 2025 to Aug 2026)</a:t>
            </a:r>
          </a:p>
          <a:p>
            <a:pPr algn="l" marL="285750" indent="-285750">
              <a:spcAft>
                <a:spcPts val="200"/>
              </a:spcAft>
              <a:buClr>
                <a:srgbClr val="A61E36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Gravimetric transpiration per leaf area (TR); stomatal conductance (gsw) on 13 accessions</a:t>
            </a:r>
          </a:p>
          <a:p>
            <a:pPr algn="l" marL="285750" indent="-285750">
              <a:lnSpc>
                <a:spcPct val="100000"/>
              </a:lnSpc>
              <a:spcAft>
                <a:spcPts val="0"/>
              </a:spcAft>
              <a:buClr>
                <a:srgbClr val="A61E36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Linear, linear-plateau and bilinear mixed models (replicate as random effect, R nlme) compared by AIC to locate VPD breakpoints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457200" y="3611880"/>
            <a:ext cx="11292840" cy="2697480"/>
          </a:xfrm>
          <a:prstGeom prst="roundRect">
            <a:avLst>
              <a:gd name="adj" fmla="val 5000"/>
            </a:avLst>
          </a:prstGeom>
          <a:solidFill>
            <a:srgbClr val="EAF4F7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4360" y="365760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6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Objective 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0080" y="4114800"/>
            <a:ext cx="4572000" cy="2103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Systems-modeling experiment</a:t>
            </a:r>
          </a:p>
          <a:p>
            <a:pPr algn="l" marL="285750" indent="-285750">
              <a:spcAft>
                <a:spcPts val="200"/>
              </a:spcAft>
              <a:buClr>
                <a:srgbClr val="A61E36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SSM soybean model (Soltani and Sinclair, 2012)</a:t>
            </a:r>
          </a:p>
          <a:p>
            <a:pPr algn="l" marL="285750" indent="-285750">
              <a:lnSpc>
                <a:spcPct val="100000"/>
              </a:lnSpc>
              <a:spcAft>
                <a:spcPts val="200"/>
              </a:spcAft>
              <a:buClr>
                <a:srgbClr val="A61E36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Biomass: radiation use efficiency; water use: hourly VPD-driven transpiration efficiency</a:t>
            </a:r>
          </a:p>
          <a:p>
            <a:pPr algn="l" marL="285750" indent="-285750">
              <a:spcAft>
                <a:spcPts val="200"/>
              </a:spcAft>
              <a:buClr>
                <a:srgbClr val="A61E36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LT vs non-LT genotype, rainfed vs irrigated</a:t>
            </a:r>
          </a:p>
          <a:p>
            <a:pPr algn="l" marL="285750" indent="-285750">
              <a:spcAft>
                <a:spcPts val="0"/>
              </a:spcAft>
              <a:buClr>
                <a:srgbClr val="A61E36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 locations (AR, MO, NE) x 30 weather-years x 3 sowing dates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3703320"/>
            <a:ext cx="2560320" cy="256032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3954475"/>
            <a:ext cx="3520440" cy="1783690"/>
          </a:xfrm>
          <a:prstGeom prst="rect">
            <a:avLst/>
          </a:prstGeom>
        </p:spPr>
      </p:pic>
      <p:sp>
        <p:nvSpPr>
          <p:cNvPr id="14" name="Caption 14"/>
          <p:cNvSpPr txBox="1"/>
          <p:nvPr/>
        </p:nvSpPr>
        <p:spPr>
          <a:xfrm>
            <a:off x="8138160" y="5760720"/>
            <a:ext cx="352044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200" i="1" dirty="0">
                <a:solidFill>
                  <a:srgbClr val="6B6B6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Hours above 2 kPa, study sites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448056" y="128016"/>
            <a:ext cx="11292840" cy="5852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Objectives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1143000" cy="1143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920240" y="1508760"/>
            <a:ext cx="9692640" cy="1234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sz="32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Identify genotypes with the LT trait among accessions differing in WUE plasticity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0"/>
            <a:ext cx="1143000" cy="11430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920240" y="3611880"/>
            <a:ext cx="9692640" cy="1234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sz="3200" dirty="0">
                <a:solidFill>
                  <a:srgbClr val="BFBFB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Quantify the yield impact and trade-offs of the LT trait across the US Mid-South and Mid-West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448056" y="128016"/>
            <a:ext cx="11292840" cy="5852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Diverging transpiration responses to VPD across accessions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463" y="822960"/>
            <a:ext cx="5643154" cy="4937760"/>
          </a:xfrm>
          <a:prstGeom prst="rect">
            <a:avLst/>
          </a:prstGeom>
        </p:spPr>
      </p:pic>
      <p:sp>
        <p:nvSpPr>
          <p:cNvPr id="5" name="Caption 5"/>
          <p:cNvSpPr txBox="1"/>
          <p:nvPr/>
        </p:nvSpPr>
        <p:spPr>
          <a:xfrm>
            <a:off x="365760" y="5806440"/>
            <a:ext cx="67665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200" i="1" dirty="0">
                <a:solidFill>
                  <a:srgbClr val="6B6B6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Plant-level transpiration under increasing VPD, Day 1 of each run, accessions with at least 3 replications; lines are the AIC-selected mixed model</a:t>
            </a:r>
          </a:p>
        </p:txBody>
      </p:sp>
      <p:sp>
        <p:nvSpPr>
          <p:cNvPr id="6" name="Card 6"/>
          <p:cNvSpPr txBox="1"/>
          <p:nvPr/>
        </p:nvSpPr>
        <p:spPr>
          <a:xfrm>
            <a:off x="7406640" y="914400"/>
            <a:ext cx="4389120" cy="1600200"/>
          </a:xfrm>
          <a:prstGeom prst="roundRect">
            <a:avLst>
              <a:gd name="adj" fmla="val 6000"/>
            </a:avLst>
          </a:prstGeom>
          <a:solidFill>
            <a:srgbClr val="F7EEF0"/>
          </a:solidFill>
          <a:ln>
            <a:noFill/>
          </a:ln>
        </p:spPr>
        <p:txBody>
          <a:bodyPr wrap="square" lIns="164592" tIns="109728" rIns="164592" bIns="109728" rtlCol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 of 9 limit transpiration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linear-plateau or bilinear model beats the linear model above a VPD breakpoint</a:t>
            </a:r>
          </a:p>
        </p:txBody>
      </p:sp>
      <p:sp>
        <p:nvSpPr>
          <p:cNvPr id="7" name="Card 7"/>
          <p:cNvSpPr txBox="1"/>
          <p:nvPr/>
        </p:nvSpPr>
        <p:spPr>
          <a:xfrm>
            <a:off x="7406640" y="2697480"/>
            <a:ext cx="4389120" cy="1600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164592" tIns="109728" rIns="164592" bIns="109728" rtlCol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Checks mostly behave as expected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Slow-wilting PI471938 plateaus at 2.6 kPa; A5959 keeps increasing; PI416937 shows no breakpoint</a:t>
            </a:r>
          </a:p>
        </p:txBody>
      </p:sp>
      <p:sp>
        <p:nvSpPr>
          <p:cNvPr id="8" name="Card 8"/>
          <p:cNvSpPr txBox="1"/>
          <p:nvPr/>
        </p:nvSpPr>
        <p:spPr>
          <a:xfrm>
            <a:off x="7406640" y="4480560"/>
            <a:ext cx="4389120" cy="1600200"/>
          </a:xfrm>
          <a:prstGeom prst="roundRect">
            <a:avLst>
              <a:gd name="adj" fmla="val 6000"/>
            </a:avLst>
          </a:prstGeom>
          <a:solidFill>
            <a:srgbClr val="F7EEF0"/>
          </a:solidFill>
          <a:ln>
            <a:noFill/>
          </a:ln>
        </p:spPr>
        <p:txBody>
          <a:bodyPr wrap="square" lIns="164592" tIns="109728" rIns="164592" bIns="109728" rtlCol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Plasticity is an imperfect guide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 of 4 high-plasticity accessions respond (PI398492, PI398617, PI603418D); PI424231 does not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448056" y="128016"/>
            <a:ext cx="11292840" cy="5852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Limited transpiration emerges between 1.7 and 3.4 kPa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0" t="0" r="0" b="11000"/>
          <a:stretch>
            <a:fillRect/>
          </a:stretch>
        </p:blipFill>
        <p:spPr>
          <a:xfrm>
            <a:off x="365760" y="1277417"/>
            <a:ext cx="6583680" cy="4394606"/>
          </a:xfrm>
          <a:prstGeom prst="rect">
            <a:avLst/>
          </a:prstGeom>
        </p:spPr>
      </p:pic>
      <p:sp>
        <p:nvSpPr>
          <p:cNvPr id="5" name="Caption 5"/>
          <p:cNvSpPr txBox="1"/>
          <p:nvPr/>
        </p:nvSpPr>
        <p:spPr>
          <a:xfrm>
            <a:off x="365760" y="60350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200" i="1" dirty="0">
                <a:solidFill>
                  <a:srgbClr val="6B6B6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VPD breakpoint of the eight accessions with a linear-plateau or bilinear response</a:t>
            </a:r>
          </a:p>
        </p:txBody>
      </p:sp>
      <p:sp>
        <p:nvSpPr>
          <p:cNvPr id="6" name="Stat 6"/>
          <p:cNvSpPr txBox="1"/>
          <p:nvPr/>
        </p:nvSpPr>
        <p:spPr>
          <a:xfrm>
            <a:off x="7223760" y="1005840"/>
            <a:ext cx="2194560" cy="14630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109728" tIns="91440" rIns="109728" bIns="91440" rtlCol="0" anchor="ctr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40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 of 14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accessions showed a nonlinear TR response (57%)</a:t>
            </a:r>
          </a:p>
        </p:txBody>
      </p:sp>
      <p:sp>
        <p:nvSpPr>
          <p:cNvPr id="7" name="Stat 7"/>
          <p:cNvSpPr txBox="1"/>
          <p:nvPr/>
        </p:nvSpPr>
        <p:spPr>
          <a:xfrm>
            <a:off x="9601200" y="1005840"/>
            <a:ext cx="2194560" cy="14630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109728" tIns="91440" rIns="109728" bIns="91440" rtlCol="0" anchor="ctr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40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 of 5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the plastic / high WUE accessions are among them</a:t>
            </a:r>
          </a:p>
        </p:txBody>
      </p:sp>
      <p:sp>
        <p:nvSpPr>
          <p:cNvPr id="8" name="Stat 8"/>
          <p:cNvSpPr txBox="1"/>
          <p:nvPr/>
        </p:nvSpPr>
        <p:spPr>
          <a:xfrm>
            <a:off x="7223760" y="2651760"/>
            <a:ext cx="4572000" cy="1325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109728" tIns="91440" rIns="109728" bIns="91440" rtlCol="0" anchor="ctr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40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2.76 kPa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mean breakpoint across the eight accessions</a:t>
            </a:r>
          </a:p>
        </p:txBody>
      </p:sp>
      <p:sp>
        <p:nvSpPr>
          <p:cNvPr id="9" name="Card 9"/>
          <p:cNvSpPr txBox="1"/>
          <p:nvPr/>
        </p:nvSpPr>
        <p:spPr>
          <a:xfrm>
            <a:off x="7223760" y="4160520"/>
            <a:ext cx="4572000" cy="1920240"/>
          </a:xfrm>
          <a:prstGeom prst="roundRect">
            <a:avLst>
              <a:gd name="adj" fmla="val 6000"/>
            </a:avLst>
          </a:prstGeom>
          <a:solidFill>
            <a:srgbClr val="F7EEF0"/>
          </a:solidFill>
          <a:ln>
            <a:noFill/>
          </a:ln>
        </p:spPr>
        <p:txBody>
          <a:bodyPr wrap="square" lIns="164592" tIns="109728" rIns="164592" bIns="109728" rtlCol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Early closers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PI398617 (1.69 kPa) restricts transpiration before typical midday field VPD of 2.0 to 2.5 kPa; PI377574, PI471938 and PI404191 follow between 2.3 and 2.7 kPa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PI603418D only declines at the last step (3.4 kPa)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448056" y="128016"/>
            <a:ext cx="11292840" cy="5852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Two routes to low water use under high VPD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31240"/>
            <a:ext cx="6766560" cy="4886960"/>
          </a:xfrm>
          <a:prstGeom prst="rect">
            <a:avLst/>
          </a:prstGeom>
        </p:spPr>
      </p:pic>
      <p:sp>
        <p:nvSpPr>
          <p:cNvPr id="5" name="Caption 5"/>
          <p:cNvSpPr txBox="1"/>
          <p:nvPr/>
        </p:nvSpPr>
        <p:spPr>
          <a:xfrm>
            <a:off x="365760" y="6035040"/>
            <a:ext cx="67665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200" i="1" dirty="0">
                <a:solidFill>
                  <a:srgbClr val="6B6B6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Initial slope vs intercept of the TR response; dashed lines are the medians</a:t>
            </a:r>
          </a:p>
        </p:txBody>
      </p:sp>
      <p:sp>
        <p:nvSpPr>
          <p:cNvPr id="6" name="Card 6"/>
          <p:cNvSpPr txBox="1"/>
          <p:nvPr/>
        </p:nvSpPr>
        <p:spPr>
          <a:xfrm>
            <a:off x="7406640" y="1005840"/>
            <a:ext cx="4389120" cy="1508760"/>
          </a:xfrm>
          <a:prstGeom prst="roundRect">
            <a:avLst>
              <a:gd name="adj" fmla="val 6000"/>
            </a:avLst>
          </a:prstGeom>
          <a:solidFill>
            <a:srgbClr val="F7EEF0"/>
          </a:solidFill>
          <a:ln>
            <a:noFill/>
          </a:ln>
        </p:spPr>
        <p:txBody>
          <a:bodyPr wrap="square" lIns="164592" tIns="109728" rIns="164592" bIns="109728" rtlCol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Low baseline, strong response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PI398617 and PI377574: intercept below 12 and slope above 25 mg m⁻² s⁻¹ kPa⁻¹, with early breakpoints</a:t>
            </a:r>
          </a:p>
        </p:txBody>
      </p:sp>
      <p:sp>
        <p:nvSpPr>
          <p:cNvPr id="7" name="Card 7"/>
          <p:cNvSpPr txBox="1"/>
          <p:nvPr/>
        </p:nvSpPr>
        <p:spPr>
          <a:xfrm>
            <a:off x="7406640" y="2697480"/>
            <a:ext cx="4389120" cy="1508760"/>
          </a:xfrm>
          <a:prstGeom prst="roundRect">
            <a:avLst>
              <a:gd name="adj" fmla="val 6000"/>
            </a:avLst>
          </a:prstGeom>
          <a:solidFill>
            <a:srgbClr val="F7EEF0"/>
          </a:solidFill>
          <a:ln>
            <a:noFill/>
          </a:ln>
        </p:spPr>
        <p:txBody>
          <a:bodyPr wrap="square" lIns="164592" tIns="109728" rIns="164592" bIns="109728" rtlCol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Slow-wilting check PI471938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Sits in the low-intercept / high-sensitivity quadrant and plateaus at 2.6 kPa</a:t>
            </a:r>
          </a:p>
        </p:txBody>
      </p:sp>
      <p:sp>
        <p:nvSpPr>
          <p:cNvPr id="8" name="Card 8"/>
          <p:cNvSpPr txBox="1"/>
          <p:nvPr/>
        </p:nvSpPr>
        <p:spPr>
          <a:xfrm>
            <a:off x="7406640" y="4389120"/>
            <a:ext cx="4389120" cy="15087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164592" tIns="109728" rIns="164592" bIns="109728" rtlCol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Plasticity class is not enough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five plastic / high WUE accessions spread across three quadrants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448056" y="128016"/>
            <a:ext cx="11292840" cy="5852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Stomata close in every genotype, but transpiration does not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03" y="868680"/>
            <a:ext cx="11038114" cy="3566160"/>
          </a:xfrm>
          <a:prstGeom prst="rect">
            <a:avLst/>
          </a:prstGeom>
        </p:spPr>
      </p:pic>
      <p:sp>
        <p:nvSpPr>
          <p:cNvPr id="5" name="Caption 5"/>
          <p:cNvSpPr txBox="1"/>
          <p:nvPr/>
        </p:nvSpPr>
        <p:spPr>
          <a:xfrm>
            <a:off x="365760" y="443484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200" i="1" dirty="0">
                <a:solidFill>
                  <a:srgbClr val="6B6B6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Predicted stomatal conductance (gsw) at 1.5 and 3.5 kPa for the 13 accessions measured with a porometer</a:t>
            </a:r>
          </a:p>
        </p:txBody>
      </p:sp>
      <p:sp>
        <p:nvSpPr>
          <p:cNvPr id="6" name="Stat 6"/>
          <p:cNvSpPr txBox="1"/>
          <p:nvPr/>
        </p:nvSpPr>
        <p:spPr>
          <a:xfrm>
            <a:off x="457200" y="4846320"/>
            <a:ext cx="3566160" cy="14630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109728" tIns="91440" rIns="109728" bIns="91440" rtlCol="0" anchor="ctr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40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−47% to −100%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decline in gsw from 1.5 to 3.5 kPa, in all 13 accessions</a:t>
            </a:r>
          </a:p>
        </p:txBody>
      </p:sp>
      <p:sp>
        <p:nvSpPr>
          <p:cNvPr id="7" name="Stat 7"/>
          <p:cNvSpPr txBox="1"/>
          <p:nvPr/>
        </p:nvSpPr>
        <p:spPr>
          <a:xfrm>
            <a:off x="4297680" y="4846320"/>
            <a:ext cx="3566160" cy="14630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109728" tIns="91440" rIns="109728" bIns="91440" rtlCol="0" anchor="ctr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40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 of 14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accessions still increased transpiration linearly up to 3.5 kPa</a:t>
            </a:r>
          </a:p>
        </p:txBody>
      </p:sp>
      <p:sp>
        <p:nvSpPr>
          <p:cNvPr id="8" name="Card 8"/>
          <p:cNvSpPr txBox="1"/>
          <p:nvPr/>
        </p:nvSpPr>
        <p:spPr>
          <a:xfrm>
            <a:off x="8138160" y="4846320"/>
            <a:ext cx="3657600" cy="1463040"/>
          </a:xfrm>
          <a:prstGeom prst="roundRect">
            <a:avLst>
              <a:gd name="adj" fmla="val 6000"/>
            </a:avLst>
          </a:prstGeom>
          <a:solidFill>
            <a:srgbClr val="F7EEF0"/>
          </a:solidFill>
          <a:ln>
            <a:noFill/>
          </a:ln>
        </p:spPr>
        <p:txBody>
          <a:bodyPr wrap="square" lIns="164592" tIns="109728" rIns="164592" bIns="109728" rtlCol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Beyond the stomata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 high demand, transpiration follows the vapor pressure gradient and boundary layer, not aperture alone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448056" y="128016"/>
            <a:ext cx="11292840" cy="5852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Candidate LT accessions identified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457200" y="1005840"/>
          <a:ext cx="7680960" cy="3621024"/>
        </p:xfrm>
        <a:graphic>
          <a:graphicData uri="http://schemas.openxmlformats.org/drawingml/2006/table">
            <a:tbl>
              <a:tblPr firstRow="1" bandRow="1"/>
              <a:tblGrid>
                <a:gridCol w="1463040"/>
                <a:gridCol w="2926080"/>
                <a:gridCol w="1463040"/>
                <a:gridCol w="182880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Accession</a:t>
                      </a:r>
                    </a:p>
                  </a:txBody>
                  <a:tcPr marL="91440" marR="9144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A6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WUE class (Chamarthi et al., 2022)</a:t>
                      </a:r>
                    </a:p>
                  </a:txBody>
                  <a:tcPr marL="91440" marR="9144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A6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Breakpoint (kPa)</a:t>
                      </a:r>
                    </a:p>
                  </a:txBody>
                  <a:tcPr marL="91440" marR="9144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A6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Response</a:t>
                      </a:r>
                    </a:p>
                  </a:txBody>
                  <a:tcPr marL="91440" marR="9144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A61E3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PI398617</a:t>
                      </a:r>
                    </a:p>
                  </a:txBody>
                  <a:tcPr marL="91440" marR="9144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Plastic / high WUE</a:t>
                      </a:r>
                    </a:p>
                  </a:txBody>
                  <a:tcPr marL="91440" marR="9144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1.69</a:t>
                      </a:r>
                    </a:p>
                  </a:txBody>
                  <a:tcPr marL="91440" marR="9144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Bilinear</a:t>
                      </a:r>
                    </a:p>
                  </a:txBody>
                  <a:tcPr marL="91440" marR="9144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PI377574</a:t>
                      </a:r>
                    </a:p>
                  </a:txBody>
                  <a:tcPr marL="91440" marR="9144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Nonplastic / low WUE</a:t>
                      </a:r>
                    </a:p>
                  </a:txBody>
                  <a:tcPr marL="91440" marR="9144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2.34</a:t>
                      </a:r>
                    </a:p>
                  </a:txBody>
                  <a:tcPr marL="91440" marR="9144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Plateau</a:t>
                      </a:r>
                    </a:p>
                  </a:txBody>
                  <a:tcPr marL="91440" marR="9144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PI471938</a:t>
                      </a:r>
                    </a:p>
                  </a:txBody>
                  <a:tcPr marL="91440" marR="9144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Slow-wilting check</a:t>
                      </a:r>
                    </a:p>
                  </a:txBody>
                  <a:tcPr marL="91440" marR="9144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2.60</a:t>
                      </a:r>
                    </a:p>
                  </a:txBody>
                  <a:tcPr marL="91440" marR="9144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Plateau</a:t>
                      </a:r>
                    </a:p>
                  </a:txBody>
                  <a:tcPr marL="91440" marR="9144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PI404191</a:t>
                      </a:r>
                    </a:p>
                  </a:txBody>
                  <a:tcPr marL="91440" marR="9144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Nonplastic / low WUE</a:t>
                      </a:r>
                    </a:p>
                  </a:txBody>
                  <a:tcPr marL="91440" marR="9144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2.68</a:t>
                      </a:r>
                    </a:p>
                  </a:txBody>
                  <a:tcPr marL="91440" marR="9144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Plateau</a:t>
                      </a:r>
                    </a:p>
                  </a:txBody>
                  <a:tcPr marL="91440" marR="9144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PI424231</a:t>
                      </a:r>
                    </a:p>
                  </a:txBody>
                  <a:tcPr marL="91440" marR="9144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Plastic / high WUE</a:t>
                      </a:r>
                    </a:p>
                  </a:txBody>
                  <a:tcPr marL="91440" marR="9144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3.06</a:t>
                      </a:r>
                    </a:p>
                  </a:txBody>
                  <a:tcPr marL="91440" marR="9144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Plateau</a:t>
                      </a:r>
                    </a:p>
                  </a:txBody>
                  <a:tcPr marL="91440" marR="9144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AG43XF2</a:t>
                      </a:r>
                    </a:p>
                  </a:txBody>
                  <a:tcPr marL="91440" marR="9144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High-wilting check</a:t>
                      </a:r>
                    </a:p>
                  </a:txBody>
                  <a:tcPr marL="91440" marR="9144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3.13</a:t>
                      </a:r>
                    </a:p>
                  </a:txBody>
                  <a:tcPr marL="91440" marR="9144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Plateau</a:t>
                      </a:r>
                    </a:p>
                  </a:txBody>
                  <a:tcPr marL="91440" marR="9144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PI398492</a:t>
                      </a:r>
                    </a:p>
                  </a:txBody>
                  <a:tcPr marL="91440" marR="9144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Plastic / high WUE</a:t>
                      </a:r>
                    </a:p>
                  </a:txBody>
                  <a:tcPr marL="91440" marR="9144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3.14</a:t>
                      </a:r>
                    </a:p>
                  </a:txBody>
                  <a:tcPr marL="91440" marR="9144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Plateau</a:t>
                      </a:r>
                    </a:p>
                  </a:txBody>
                  <a:tcPr marL="91440" marR="9144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PI603418D</a:t>
                      </a:r>
                    </a:p>
                  </a:txBody>
                  <a:tcPr marL="91440" marR="9144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Plastic / high WUE</a:t>
                      </a:r>
                    </a:p>
                  </a:txBody>
                  <a:tcPr marL="91440" marR="9144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3.42</a:t>
                      </a:r>
                    </a:p>
                  </a:txBody>
                  <a:tcPr marL="91440" marR="9144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Decline at 3.4 kPa</a:t>
                      </a:r>
                    </a:p>
                  </a:txBody>
                  <a:tcPr marL="91440" marR="9144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Caption 5"/>
          <p:cNvSpPr txBox="1"/>
          <p:nvPr/>
        </p:nvSpPr>
        <p:spPr>
          <a:xfrm>
            <a:off x="457200" y="470916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200" i="1" dirty="0">
                <a:solidFill>
                  <a:srgbClr val="6B6B6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Linear up to 3.5 kPa: A5959, PI398198, PI398272, PI416937, PI442012A, PI603171</a:t>
            </a:r>
          </a:p>
        </p:txBody>
      </p:sp>
      <p:sp>
        <p:nvSpPr>
          <p:cNvPr id="6" name="Stat 6"/>
          <p:cNvSpPr txBox="1"/>
          <p:nvPr/>
        </p:nvSpPr>
        <p:spPr>
          <a:xfrm>
            <a:off x="8412480" y="1005840"/>
            <a:ext cx="3383280" cy="1325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109728" tIns="91440" rIns="109728" bIns="91440" rtlCol="0" anchor="ctr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40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 of 14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accessions limit transpiration under high VPD</a:t>
            </a:r>
          </a:p>
        </p:txBody>
      </p:sp>
      <p:sp>
        <p:nvSpPr>
          <p:cNvPr id="7" name="Stat 7"/>
          <p:cNvSpPr txBox="1"/>
          <p:nvPr/>
        </p:nvSpPr>
        <p:spPr>
          <a:xfrm>
            <a:off x="8412480" y="2514600"/>
            <a:ext cx="3383280" cy="1325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109728" tIns="91440" rIns="109728" bIns="91440" rtlCol="0" anchor="ctr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40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 of 5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plastic / high WUE accessions carry the LT response</a:t>
            </a:r>
          </a:p>
        </p:txBody>
      </p:sp>
      <p:sp>
        <p:nvSpPr>
          <p:cNvPr id="8" name="Stat 8"/>
          <p:cNvSpPr txBox="1"/>
          <p:nvPr/>
        </p:nvSpPr>
        <p:spPr>
          <a:xfrm>
            <a:off x="8412480" y="4023360"/>
            <a:ext cx="3383280" cy="1325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109728" tIns="91440" rIns="109728" bIns="91440" rtlCol="0" anchor="ctr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40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1.7 to 3.4 kPa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breakpoint range: a tunable trait, not a switch</a:t>
            </a:r>
          </a:p>
        </p:txBody>
      </p:sp>
      <p:sp>
        <p:nvSpPr>
          <p:cNvPr id="9" name="Card 9"/>
          <p:cNvSpPr txBox="1"/>
          <p:nvPr/>
        </p:nvSpPr>
        <p:spPr>
          <a:xfrm>
            <a:off x="457200" y="5257800"/>
            <a:ext cx="7680960" cy="1051560"/>
          </a:xfrm>
          <a:prstGeom prst="roundRect">
            <a:avLst>
              <a:gd name="adj" fmla="val 6000"/>
            </a:avLst>
          </a:prstGeom>
          <a:solidFill>
            <a:srgbClr val="F7EEF0"/>
          </a:solidFill>
          <a:ln>
            <a:noFill/>
          </a:ln>
        </p:spPr>
        <p:txBody>
          <a:bodyPr wrap="square" lIns="164592" tIns="109728" rIns="164592" bIns="109728" rtlCol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Take-home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WUE plasticity flags LT candidates, but phenotyping the VPD response is needed to confirm the trait and its threshold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448056" y="128016"/>
            <a:ext cx="11292840" cy="5852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Objectives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1143000" cy="1143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920240" y="1508760"/>
            <a:ext cx="9692640" cy="1234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sz="3200" dirty="0">
                <a:solidFill>
                  <a:srgbClr val="BFBFB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Identify genotypes with the LT trait among accessions differing in WUE plasticity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0"/>
            <a:ext cx="1143000" cy="11430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920240" y="3611880"/>
            <a:ext cx="9692640" cy="1234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sz="32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Quantify the yield impact and trade-offs of the LT trait across the US Mid-South and Mid-West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448056" y="128016"/>
            <a:ext cx="11292840" cy="5852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LT trait narrows the yield gap caused by water deficit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45708"/>
            <a:ext cx="8503920" cy="4217944"/>
          </a:xfrm>
          <a:prstGeom prst="rect">
            <a:avLst/>
          </a:prstGeom>
        </p:spPr>
      </p:pic>
      <p:sp>
        <p:nvSpPr>
          <p:cNvPr id="5" name="Caption 5"/>
          <p:cNvSpPr txBox="1"/>
          <p:nvPr/>
        </p:nvSpPr>
        <p:spPr>
          <a:xfrm>
            <a:off x="365760" y="55778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200" i="1" dirty="0">
                <a:solidFill>
                  <a:srgbClr val="6B6B6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Water-limited yield (green) and yield gap by water deficit (yellow) as shares of potential yield at 10 sites, 30 weather-years x 3 sowing dates each; labels give the water-limited share</a:t>
            </a:r>
          </a:p>
        </p:txBody>
      </p:sp>
      <p:sp>
        <p:nvSpPr>
          <p:cNvPr id="6" name="Stat 6"/>
          <p:cNvSpPr txBox="1"/>
          <p:nvPr/>
        </p:nvSpPr>
        <p:spPr>
          <a:xfrm>
            <a:off x="8869680" y="1005840"/>
            <a:ext cx="2926080" cy="19659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109728" tIns="91440" rIns="109728" bIns="91440" rtlCol="0" anchor="ctr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44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61%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potential yield lost to water deficit without the LT trait</a:t>
            </a:r>
          </a:p>
        </p:txBody>
      </p:sp>
      <p:sp>
        <p:nvSpPr>
          <p:cNvPr id="7" name="Stat 7"/>
          <p:cNvSpPr txBox="1"/>
          <p:nvPr/>
        </p:nvSpPr>
        <p:spPr>
          <a:xfrm>
            <a:off x="8869680" y="3200400"/>
            <a:ext cx="2926080" cy="1965960"/>
          </a:xfrm>
          <a:prstGeom prst="roundRect">
            <a:avLst>
              <a:gd name="adj" fmla="val 6000"/>
            </a:avLst>
          </a:prstGeom>
          <a:solidFill>
            <a:srgbClr val="F7EEF0"/>
          </a:solidFill>
          <a:ln>
            <a:noFill/>
          </a:ln>
        </p:spPr>
        <p:txBody>
          <a:bodyPr wrap="square" lIns="109728" tIns="91440" rIns="109728" bIns="91440" rtlCol="0" anchor="ctr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44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37%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lost with the LT trait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69680" y="539496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Largest gains in Missouri and Nebraska; Arkansas sites keep the widest gap even with the LT trait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448056" y="128016"/>
            <a:ext cx="11292840" cy="5852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trade-off: yield potential for water-limited yield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619" y="914400"/>
            <a:ext cx="3097161" cy="4572000"/>
          </a:xfrm>
          <a:prstGeom prst="rect">
            <a:avLst/>
          </a:prstGeom>
        </p:spPr>
      </p:pic>
      <p:sp>
        <p:nvSpPr>
          <p:cNvPr id="5" name="Caption 5"/>
          <p:cNvSpPr txBox="1"/>
          <p:nvPr/>
        </p:nvSpPr>
        <p:spPr>
          <a:xfrm>
            <a:off x="457200" y="55321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200" i="1" dirty="0">
                <a:solidFill>
                  <a:srgbClr val="6B6B6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Mean attainable yield (green) plus yield gap by water deficit (yellow) across 10 locations; error bars are SE among sites</a:t>
            </a:r>
          </a:p>
        </p:txBody>
      </p:sp>
      <p:sp>
        <p:nvSpPr>
          <p:cNvPr id="6" name="Stat 6"/>
          <p:cNvSpPr txBox="1"/>
          <p:nvPr/>
        </p:nvSpPr>
        <p:spPr>
          <a:xfrm>
            <a:off x="5394960" y="1005840"/>
            <a:ext cx="3063240" cy="1920240"/>
          </a:xfrm>
          <a:prstGeom prst="roundRect">
            <a:avLst>
              <a:gd name="adj" fmla="val 6000"/>
            </a:avLst>
          </a:prstGeom>
          <a:solidFill>
            <a:srgbClr val="F7EEF0"/>
          </a:solidFill>
          <a:ln>
            <a:noFill/>
          </a:ln>
        </p:spPr>
        <p:txBody>
          <a:bodyPr wrap="square" lIns="109728" tIns="91440" rIns="109728" bIns="91440" rtlCol="0" anchor="ctr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44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+8%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water-limited yield with the LT trait</a:t>
            </a:r>
          </a:p>
        </p:txBody>
      </p:sp>
      <p:sp>
        <p:nvSpPr>
          <p:cNvPr id="7" name="Stat 7"/>
          <p:cNvSpPr txBox="1"/>
          <p:nvPr/>
        </p:nvSpPr>
        <p:spPr>
          <a:xfrm>
            <a:off x="8732520" y="1005840"/>
            <a:ext cx="3063240" cy="19202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109728" tIns="91440" rIns="109728" bIns="91440" rtlCol="0" anchor="ctr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44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+50%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potential yield without the LT trait</a:t>
            </a:r>
          </a:p>
        </p:txBody>
      </p:sp>
      <p:sp>
        <p:nvSpPr>
          <p:cNvPr id="8" name="Card 8"/>
          <p:cNvSpPr txBox="1"/>
          <p:nvPr/>
        </p:nvSpPr>
        <p:spPr>
          <a:xfrm>
            <a:off x="5394960" y="3154680"/>
            <a:ext cx="6400800" cy="1417320"/>
          </a:xfrm>
          <a:prstGeom prst="roundRect">
            <a:avLst>
              <a:gd name="adj" fmla="val 6000"/>
            </a:avLst>
          </a:prstGeom>
          <a:solidFill>
            <a:srgbClr val="F7EEF0"/>
          </a:solidFill>
          <a:ln>
            <a:noFill/>
          </a:ln>
        </p:spPr>
        <p:txBody>
          <a:bodyPr wrap="square" lIns="164592" tIns="109728" rIns="164592" bIns="109728" rtlCol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Where it pays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Rainfed fields and dry years: conserved soil water carries the crop through seed filling</a:t>
            </a:r>
          </a:p>
        </p:txBody>
      </p:sp>
      <p:sp>
        <p:nvSpPr>
          <p:cNvPr id="9" name="Card 9"/>
          <p:cNvSpPr txBox="1"/>
          <p:nvPr/>
        </p:nvSpPr>
        <p:spPr>
          <a:xfrm>
            <a:off x="5394960" y="4754880"/>
            <a:ext cx="6400800" cy="14173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164592" tIns="109728" rIns="164592" bIns="109728" rtlCol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Where it costs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Irrigated or wet seasons: restricted transpiration caps carbon gain and yield potential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448056" y="128016"/>
            <a:ext cx="11292840" cy="5852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Conclusions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914400" cy="9144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691640" y="1005840"/>
            <a:ext cx="996696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Transpiration restriction under high VPD partly explains the WUE plasticity inferred from carbon isotopes (Chamarthi et al., 2022)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23160"/>
            <a:ext cx="914400" cy="9144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691640" y="2331720"/>
            <a:ext cx="996696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Most high-plasticity accessions limited transpiration, with breakpoints from 1.7 to 3.4 kPa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749040"/>
            <a:ext cx="914400" cy="914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691640" y="3657600"/>
            <a:ext cx="996696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 all plastic accessions showed the response: other water-conservation mechanisms also shape WUE plasticity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074920"/>
            <a:ext cx="914400" cy="914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691640" y="4983480"/>
            <a:ext cx="996696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LT trait trades yield potential for water-limited yield: +8% under deficit and a yield gap cut from 61% to 37% across 10 sites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448056" y="128016"/>
            <a:ext cx="11292840" cy="5852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Next steps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6800" t="10000" r="6800" b="10000"/>
          <a:stretch>
            <a:fillRect/>
          </a:stretch>
        </p:blipFill>
        <p:spPr>
          <a:xfrm>
            <a:off x="457200" y="1058333"/>
            <a:ext cx="3840480" cy="4741333"/>
          </a:xfrm>
          <a:prstGeom prst="rect">
            <a:avLst/>
          </a:prstGeom>
        </p:spPr>
      </p:pic>
      <p:sp>
        <p:nvSpPr>
          <p:cNvPr id="5" name="Card 5"/>
          <p:cNvSpPr txBox="1"/>
          <p:nvPr/>
        </p:nvSpPr>
        <p:spPr>
          <a:xfrm>
            <a:off x="4572000" y="1051560"/>
            <a:ext cx="7223760" cy="1463040"/>
          </a:xfrm>
          <a:prstGeom prst="roundRect">
            <a:avLst>
              <a:gd name="adj" fmla="val 6000"/>
            </a:avLst>
          </a:prstGeom>
          <a:solidFill>
            <a:srgbClr val="F7EEF0"/>
          </a:solidFill>
          <a:ln>
            <a:noFill/>
          </a:ln>
        </p:spPr>
        <p:txBody>
          <a:bodyPr wrap="square" lIns="164592" tIns="109728" rIns="164592" bIns="109728" rtlCol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Field testing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Diurnal stomatal conductance of LT candidates under field temperature and humidity, Arkansas 2026-2027</a:t>
            </a:r>
          </a:p>
        </p:txBody>
      </p:sp>
      <p:sp>
        <p:nvSpPr>
          <p:cNvPr id="6" name="Card 6"/>
          <p:cNvSpPr txBox="1"/>
          <p:nvPr/>
        </p:nvSpPr>
        <p:spPr>
          <a:xfrm>
            <a:off x="4572000" y="2697480"/>
            <a:ext cx="7223760" cy="1463040"/>
          </a:xfrm>
          <a:prstGeom prst="roundRect">
            <a:avLst>
              <a:gd name="adj" fmla="val 6000"/>
            </a:avLst>
          </a:prstGeom>
          <a:solidFill>
            <a:srgbClr val="F7EEF0"/>
          </a:solidFill>
          <a:ln>
            <a:noFill/>
          </a:ln>
        </p:spPr>
        <p:txBody>
          <a:bodyPr wrap="square" lIns="164592" tIns="109728" rIns="164592" bIns="109728" rtlCol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A6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Breeding donors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PI398617 and PI377574 as sources of an early, strong LT response for MG IV backgrounds</a:t>
            </a:r>
          </a:p>
        </p:txBody>
      </p:sp>
      <p:sp>
        <p:nvSpPr>
          <p:cNvPr id="7" name="Card 7"/>
          <p:cNvSpPr txBox="1"/>
          <p:nvPr/>
        </p:nvSpPr>
        <p:spPr>
          <a:xfrm>
            <a:off x="4572000" y="4343400"/>
            <a:ext cx="7223760" cy="14630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164592" tIns="109728" rIns="164592" bIns="109728" rtlCol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 the threshold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Genotype-specific breakpoints in SSM to map where, and in which seasons, the LT trait pays off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9c742c4-e61c-4fa5-be89-a3cb566a80d1}" enabled="0" method="" siteId="{79c742c4-e61c-4fa5-be89-a3cb566a80d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3465</TotalTime>
  <Words>471</Words>
  <Application>Microsoft Office PowerPoint</Application>
  <PresentationFormat>Widescreen</PresentationFormat>
  <Paragraphs>139</Paragraphs>
  <Slides>21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Elli, Elvis Felipe [AGRON]</dc:creator>
  <cp:lastModifiedBy>Elvis F. Elli</cp:lastModifiedBy>
  <cp:revision>94</cp:revision>
  <dcterms:created xsi:type="dcterms:W3CDTF">2022-10-18T19:19:45Z</dcterms:created>
  <dcterms:modified xsi:type="dcterms:W3CDTF">2026-05-19T21:04:50Z</dcterms:modified>
</cp:coreProperties>
</file>